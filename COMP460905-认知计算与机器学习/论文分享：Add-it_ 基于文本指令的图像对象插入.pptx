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79" r:id="rId9"/>
    <p:sldId id="261" r:id="rId10"/>
    <p:sldId id="281" r:id="rId11"/>
    <p:sldId id="262" r:id="rId12"/>
    <p:sldId id="285" r:id="rId13"/>
    <p:sldId id="299" r:id="rId14"/>
    <p:sldId id="283" r:id="rId15"/>
    <p:sldId id="266" r:id="rId16"/>
    <p:sldId id="284" r:id="rId17"/>
    <p:sldId id="282" r:id="rId18"/>
    <p:sldId id="269" r:id="rId19"/>
    <p:sldId id="286" r:id="rId20"/>
    <p:sldId id="274" r:id="rId21"/>
    <p:sldId id="296" r:id="rId22"/>
    <p:sldId id="297" r:id="rId23"/>
    <p:sldId id="277" r:id="rId24"/>
  </p:sldIdLst>
  <p:sldSz cx="9144000" cy="5143500"/>
  <p:notesSz cx="5143500" cy="9144000"/>
  <p:custDataLst>
    <p:tags r:id="rId2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gs" Target="tags/tag47.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notesSlide" Target="../notesSlides/notesSlide2.xml"/><Relationship Id="rId12" Type="http://schemas.openxmlformats.org/officeDocument/2006/relationships/slideLayout" Target="../slideLayouts/slideLayout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1" Type="http://schemas.openxmlformats.org/officeDocument/2006/relationships/notesSlide" Target="../notesSlides/notesSlide4.xml"/><Relationship Id="rId10"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2" Type="http://schemas.openxmlformats.org/officeDocument/2006/relationships/notesSlide" Target="../notesSlides/notesSlide5.xml"/><Relationship Id="rId11" Type="http://schemas.openxmlformats.org/officeDocument/2006/relationships/slideLayout" Target="../slideLayouts/slideLayout2.xml"/><Relationship Id="rId10" Type="http://schemas.openxmlformats.org/officeDocument/2006/relationships/image" Target="../media/image4.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3" Type="http://schemas.openxmlformats.org/officeDocument/2006/relationships/notesSlide" Target="../notesSlides/notesSlide7.xml"/><Relationship Id="rId12" Type="http://schemas.openxmlformats.org/officeDocument/2006/relationships/slideLayout" Target="../slideLayouts/slideLayout2.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3" Type="http://schemas.openxmlformats.org/officeDocument/2006/relationships/notesSlide" Target="../notesSlides/notesSlide13.xml"/><Relationship Id="rId12" Type="http://schemas.openxmlformats.org/officeDocument/2006/relationships/slideLayout" Target="../slideLayouts/slideLayout2.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1500188"/>
            <a:ext cx="8001000"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Add-it: 基于</a:t>
            </a:r>
            <a:r>
              <a:rPr lang="zh-CN" alt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预训练扩散模型</a:t>
            </a:r>
            <a:r>
              <a:rPr 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的无需训练图像对象插入</a:t>
            </a:r>
            <a:endParaRPr 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Text 1"/>
          <p:cNvSpPr/>
          <p:nvPr/>
        </p:nvSpPr>
        <p:spPr>
          <a:xfrm>
            <a:off x="969010" y="3831908"/>
            <a:ext cx="8001000" cy="400050"/>
          </a:xfrm>
          <a:prstGeom prst="rect">
            <a:avLst/>
          </a:prstGeom>
          <a:noFill/>
        </p:spPr>
        <p:txBody>
          <a:bodyPr vert="horz" wrap="square" lIns="0" tIns="0" rIns="0" bIns="0" rtlCol="0" anchor="ctr"/>
          <a:lstStyle/>
          <a:p>
            <a:pPr marL="0" indent="0" algn="l">
              <a:lnSpc>
                <a:spcPts val="3150"/>
              </a:lnSpc>
              <a:buNone/>
            </a:pPr>
            <a:endParaRPr lang="en-US" sz="2250" dirty="0"/>
          </a:p>
        </p:txBody>
      </p:sp>
      <p:sp>
        <p:nvSpPr>
          <p:cNvPr id="10" name="文本框 9"/>
          <p:cNvSpPr txBox="1"/>
          <p:nvPr/>
        </p:nvSpPr>
        <p:spPr>
          <a:xfrm>
            <a:off x="508000" y="3046730"/>
            <a:ext cx="8360410" cy="922020"/>
          </a:xfrm>
          <a:prstGeom prst="rect">
            <a:avLst/>
          </a:prstGeom>
          <a:noFill/>
        </p:spPr>
        <p:txBody>
          <a:bodyPr wrap="square" rtlCol="0">
            <a:spAutoFit/>
          </a:bodyPr>
          <a:p>
            <a:r>
              <a:rPr lang="zh-CN" altLang="en-US"/>
              <a:t>ICLR 2024</a:t>
            </a:r>
            <a:endParaRPr lang="zh-CN" altLang="en-US"/>
          </a:p>
          <a:p>
            <a:endParaRPr lang="zh-CN" altLang="en-US"/>
          </a:p>
          <a:p>
            <a:r>
              <a:rPr lang="zh-CN" altLang="en-US"/>
              <a:t>作者：Omri Avrahami, Amir Hertz, Dani Lischinski </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2952750" cy="5143500"/>
          </a:xfrm>
          <a:prstGeom prst="rect">
            <a:avLst/>
          </a:prstGeom>
        </p:spPr>
      </p:pic>
      <p:sp>
        <p:nvSpPr>
          <p:cNvPr id="4" name="Text 1"/>
          <p:cNvSpPr/>
          <p:nvPr/>
        </p:nvSpPr>
        <p:spPr>
          <a:xfrm>
            <a:off x="571500" y="3433763"/>
            <a:ext cx="1857375"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content</a:t>
            </a:r>
            <a:endParaRPr lang="en-US" sz="3750" dirty="0"/>
          </a:p>
        </p:txBody>
      </p:sp>
      <p:sp>
        <p:nvSpPr>
          <p:cNvPr id="5" name="Text 2"/>
          <p:cNvSpPr/>
          <p:nvPr/>
        </p:nvSpPr>
        <p:spPr>
          <a:xfrm>
            <a:off x="571500" y="4176713"/>
            <a:ext cx="1809750" cy="400050"/>
          </a:xfrm>
          <a:prstGeom prst="rect">
            <a:avLst/>
          </a:prstGeom>
          <a:noFill/>
        </p:spPr>
        <p:txBody>
          <a:bodyPr vert="horz" wrap="square" lIns="0" tIns="0" rIns="0" bIns="0" rtlCol="0" anchor="ctr"/>
          <a:lstStyle/>
          <a:p>
            <a:pPr marL="0" indent="0" algn="l">
              <a:lnSpc>
                <a:spcPts val="3150"/>
              </a:lnSpc>
              <a:buNone/>
            </a:pPr>
            <a:r>
              <a:rPr lang="en-US" sz="22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2250" dirty="0"/>
          </a:p>
        </p:txBody>
      </p:sp>
      <p:sp>
        <p:nvSpPr>
          <p:cNvPr id="6" name="Text 3"/>
          <p:cNvSpPr/>
          <p:nvPr>
            <p:custDataLst>
              <p:tags r:id="rId2"/>
            </p:custDataLst>
          </p:nvPr>
        </p:nvSpPr>
        <p:spPr>
          <a:xfrm>
            <a:off x="3073400" y="772381"/>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875" dirty="0"/>
          </a:p>
        </p:txBody>
      </p:sp>
      <p:sp>
        <p:nvSpPr>
          <p:cNvPr id="7" name="Text 4"/>
          <p:cNvSpPr/>
          <p:nvPr>
            <p:custDataLst>
              <p:tags r:id="rId3"/>
            </p:custDataLst>
          </p:nvPr>
        </p:nvSpPr>
        <p:spPr>
          <a:xfrm>
            <a:off x="3667951" y="1049081"/>
            <a:ext cx="5406200" cy="247269"/>
          </a:xfrm>
          <a:prstGeom prst="rect">
            <a:avLst/>
          </a:prstGeom>
          <a:noFill/>
        </p:spPr>
        <p:txBody>
          <a:bodyPr vert="horz" wrap="square" lIns="0" tIns="0" rIns="0" bIns="0" rtlCol="0" anchor="ctr"/>
          <a:lstStyle/>
          <a:p>
            <a:pPr marL="0" indent="0" algn="l">
              <a:lnSpc>
                <a:spcPts val="1650"/>
              </a:lnSpc>
              <a:buNone/>
            </a:pPr>
            <a:r>
              <a:rPr 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引言</a:t>
            </a:r>
            <a:endParaRPr lang="en-US" sz="3200" dirty="0"/>
          </a:p>
        </p:txBody>
      </p:sp>
      <p:sp>
        <p:nvSpPr>
          <p:cNvPr id="8" name="Text 5"/>
          <p:cNvSpPr/>
          <p:nvPr/>
        </p:nvSpPr>
        <p:spPr>
          <a:xfrm>
            <a:off x="3990975" y="1307306"/>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9" name="Text 6"/>
          <p:cNvSpPr/>
          <p:nvPr>
            <p:custDataLst>
              <p:tags r:id="rId4"/>
            </p:custDataLst>
          </p:nvPr>
        </p:nvSpPr>
        <p:spPr>
          <a:xfrm>
            <a:off x="3073400" y="1514188"/>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875" dirty="0"/>
          </a:p>
        </p:txBody>
      </p:sp>
      <p:sp>
        <p:nvSpPr>
          <p:cNvPr id="10" name="Text 7"/>
          <p:cNvSpPr/>
          <p:nvPr>
            <p:custDataLst>
              <p:tags r:id="rId5"/>
            </p:custDataLst>
          </p:nvPr>
        </p:nvSpPr>
        <p:spPr>
          <a:xfrm>
            <a:off x="3667951" y="1826448"/>
            <a:ext cx="5406200" cy="247269"/>
          </a:xfrm>
          <a:prstGeom prst="rect">
            <a:avLst/>
          </a:prstGeom>
          <a:noFill/>
        </p:spPr>
        <p:txBody>
          <a:bodyPr vert="horz" wrap="square" lIns="0" tIns="0" rIns="0" bIns="0" rtlCol="0" anchor="ctr"/>
          <a:lstStyle/>
          <a:p>
            <a:pPr marL="0" indent="0" algn="l">
              <a:lnSpc>
                <a:spcPts val="1650"/>
              </a:lnSpc>
              <a:buNone/>
            </a:pPr>
            <a:r>
              <a:rPr 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Add-it方法概述</a:t>
            </a:r>
            <a:endParaRPr lang="en-US" sz="3200" dirty="0"/>
          </a:p>
        </p:txBody>
      </p:sp>
      <p:sp>
        <p:nvSpPr>
          <p:cNvPr id="11" name="Text 8"/>
          <p:cNvSpPr/>
          <p:nvPr/>
        </p:nvSpPr>
        <p:spPr>
          <a:xfrm>
            <a:off x="3990975" y="1935956"/>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2" name="Text 9"/>
          <p:cNvSpPr/>
          <p:nvPr>
            <p:custDataLst>
              <p:tags r:id="rId6"/>
            </p:custDataLst>
          </p:nvPr>
        </p:nvSpPr>
        <p:spPr>
          <a:xfrm>
            <a:off x="3073400" y="2255995"/>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875" dirty="0"/>
          </a:p>
        </p:txBody>
      </p:sp>
      <p:sp>
        <p:nvSpPr>
          <p:cNvPr id="13" name="Text 10"/>
          <p:cNvSpPr/>
          <p:nvPr>
            <p:custDataLst>
              <p:tags r:id="rId7"/>
            </p:custDataLst>
          </p:nvPr>
        </p:nvSpPr>
        <p:spPr>
          <a:xfrm>
            <a:off x="3667951" y="2565080"/>
            <a:ext cx="5406200" cy="247269"/>
          </a:xfrm>
          <a:prstGeom prst="rect">
            <a:avLst/>
          </a:prstGeom>
          <a:noFill/>
        </p:spPr>
        <p:txBody>
          <a:bodyPr vert="horz" wrap="square" lIns="0" tIns="0" rIns="0" bIns="0" rtlCol="0" anchor="ctr"/>
          <a:lstStyle/>
          <a:p>
            <a:pPr marL="0" indent="0" algn="l">
              <a:lnSpc>
                <a:spcPts val="1650"/>
              </a:lnSpc>
              <a:buNone/>
            </a:pPr>
            <a:r>
              <a:rPr lang="zh-CN" alt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评估</a:t>
            </a:r>
            <a:endParaRPr lang="zh-CN" alt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4" name="Text 11"/>
          <p:cNvSpPr/>
          <p:nvPr/>
        </p:nvSpPr>
        <p:spPr>
          <a:xfrm>
            <a:off x="3990975" y="2564606"/>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5" name="Text 12"/>
          <p:cNvSpPr/>
          <p:nvPr>
            <p:custDataLst>
              <p:tags r:id="rId8"/>
            </p:custDataLst>
          </p:nvPr>
        </p:nvSpPr>
        <p:spPr>
          <a:xfrm>
            <a:off x="3073400" y="2997802"/>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875" dirty="0"/>
          </a:p>
        </p:txBody>
      </p:sp>
      <p:sp>
        <p:nvSpPr>
          <p:cNvPr id="16" name="Text 13"/>
          <p:cNvSpPr/>
          <p:nvPr>
            <p:custDataLst>
              <p:tags r:id="rId9"/>
            </p:custDataLst>
          </p:nvPr>
        </p:nvSpPr>
        <p:spPr>
          <a:xfrm>
            <a:off x="3667951" y="3285297"/>
            <a:ext cx="5406200" cy="247269"/>
          </a:xfrm>
          <a:prstGeom prst="rect">
            <a:avLst/>
          </a:prstGeom>
          <a:noFill/>
        </p:spPr>
        <p:txBody>
          <a:bodyPr vert="horz" wrap="square" lIns="0" tIns="0" rIns="0" bIns="0" rtlCol="0" anchor="ctr"/>
          <a:lstStyle/>
          <a:p>
            <a:pPr marL="0" indent="0" algn="l">
              <a:lnSpc>
                <a:spcPts val="1650"/>
              </a:lnSpc>
              <a:buNone/>
            </a:pPr>
            <a:r>
              <a:rPr 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sym typeface="+mn-ea"/>
              </a:rPr>
              <a:t>结论</a:t>
            </a:r>
            <a:endParaRPr lang="zh-CN" altLang="en-US" sz="3200" dirty="0"/>
          </a:p>
        </p:txBody>
      </p:sp>
      <p:sp>
        <p:nvSpPr>
          <p:cNvPr id="17" name="Text 14"/>
          <p:cNvSpPr/>
          <p:nvPr/>
        </p:nvSpPr>
        <p:spPr>
          <a:xfrm>
            <a:off x="5343525" y="4819491"/>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8" name="Text 15"/>
          <p:cNvSpPr/>
          <p:nvPr>
            <p:custDataLst>
              <p:tags r:id="rId10"/>
            </p:custDataLst>
          </p:nvPr>
        </p:nvSpPr>
        <p:spPr>
          <a:xfrm>
            <a:off x="3073400" y="3739515"/>
            <a:ext cx="550545" cy="393065"/>
          </a:xfrm>
          <a:prstGeom prst="rect">
            <a:avLst/>
          </a:prstGeom>
          <a:noFill/>
        </p:spPr>
        <p:txBody>
          <a:bodyPr vert="horz" wrap="square" lIns="0" tIns="0" rIns="0" bIns="0" rtlCol="0" anchor="ctr"/>
          <a:lstStyle/>
          <a:p>
            <a:pPr marL="0" indent="0" algn="l">
              <a:lnSpc>
                <a:spcPts val="3040"/>
              </a:lnSpc>
              <a:buNone/>
            </a:pPr>
            <a:endParaRPr lang="en-US" sz="1875" dirty="0"/>
          </a:p>
        </p:txBody>
      </p:sp>
      <p:sp>
        <p:nvSpPr>
          <p:cNvPr id="19" name="Text 16"/>
          <p:cNvSpPr/>
          <p:nvPr>
            <p:custDataLst>
              <p:tags r:id="rId11"/>
            </p:custDataLst>
          </p:nvPr>
        </p:nvSpPr>
        <p:spPr>
          <a:xfrm>
            <a:off x="3667951" y="4042979"/>
            <a:ext cx="5406200" cy="247269"/>
          </a:xfrm>
          <a:prstGeom prst="rect">
            <a:avLst/>
          </a:prstGeom>
          <a:noFill/>
        </p:spPr>
        <p:txBody>
          <a:bodyPr vert="horz" wrap="square" lIns="0" tIns="0" rIns="0" bIns="0" rtlCol="0" anchor="ctr"/>
          <a:lstStyle/>
          <a:p>
            <a:pPr marL="0" indent="0" algn="l">
              <a:lnSpc>
                <a:spcPts val="1650"/>
              </a:lnSpc>
              <a:buNone/>
            </a:pPr>
            <a:endParaRPr lang="en-US" sz="3200" dirty="0"/>
          </a:p>
        </p:txBody>
      </p:sp>
      <p:sp>
        <p:nvSpPr>
          <p:cNvPr id="20" name="Text 17"/>
          <p:cNvSpPr/>
          <p:nvPr/>
        </p:nvSpPr>
        <p:spPr>
          <a:xfrm>
            <a:off x="3990975" y="3821906"/>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引言</a:t>
            </a:r>
            <a:endParaRPr lang="en-US" sz="3750" dirty="0"/>
          </a:p>
        </p:txBody>
      </p:sp>
      <p:sp>
        <p:nvSpPr>
          <p:cNvPr id="4" name="Shape 1"/>
          <p:cNvSpPr/>
          <p:nvPr/>
        </p:nvSpPr>
        <p:spPr>
          <a:xfrm>
            <a:off x="571500" y="4157662"/>
            <a:ext cx="4762500" cy="14288"/>
          </a:xfrm>
          <a:prstGeom prst="rect">
            <a:avLst/>
          </a:prstGeom>
          <a:solidFill>
            <a:srgbClr val="000000">
              <a:alpha val="30000"/>
            </a:srgbClr>
          </a:solidFill>
        </p:spPr>
      </p:sp>
      <p:sp>
        <p:nvSpPr>
          <p:cNvPr id="5" name="Text 2"/>
          <p:cNvSpPr/>
          <p:nvPr/>
        </p:nvSpPr>
        <p:spPr>
          <a:xfrm>
            <a:off x="571500" y="4362450"/>
            <a:ext cx="4762500"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p:spPr>
        <p:txBody>
          <a:bodyPr vert="horz" wrap="square" lIns="0" tIns="0" rIns="0" bIns="0" rtlCol="0" anchor="ctr"/>
          <a:lstStyle/>
          <a:p>
            <a:pPr marL="0" indent="0" algn="ctr">
              <a:lnSpc>
                <a:spcPts val="22500"/>
              </a:lnSpc>
              <a:buNone/>
            </a:pPr>
            <a:r>
              <a:rPr lang="en-US" sz="22500" b="1" dirty="0">
                <a:solidFill>
                  <a:srgbClr val="4784CB">
                    <a:alpha val="30000"/>
                  </a:srgbClr>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2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5" name="Text 1"/>
          <p:cNvSpPr/>
          <p:nvPr/>
        </p:nvSpPr>
        <p:spPr>
          <a:xfrm>
            <a:off x="571500" y="285750"/>
            <a:ext cx="4038600" cy="400050"/>
          </a:xfrm>
          <a:prstGeom prst="rect">
            <a:avLst/>
          </a:prstGeom>
          <a:noFill/>
        </p:spPr>
        <p:txBody>
          <a:bodyPr vert="horz" wrap="square" lIns="0" tIns="0" rIns="0" bIns="0" rtlCol="0" anchor="ctr"/>
          <a:lstStyle/>
          <a:p>
            <a:pPr marL="0" indent="0" algn="l">
              <a:lnSpc>
                <a:spcPts val="3150"/>
              </a:lnSpc>
              <a:buNone/>
            </a:pPr>
            <a:endParaRPr lang="zh-CN" altLang="en-US" sz="2250" dirty="0"/>
          </a:p>
        </p:txBody>
      </p:sp>
      <p:sp>
        <p:nvSpPr>
          <p:cNvPr id="6" name="Text 2"/>
          <p:cNvSpPr/>
          <p:nvPr/>
        </p:nvSpPr>
        <p:spPr>
          <a:xfrm>
            <a:off x="571500" y="742950"/>
            <a:ext cx="40386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7" name="Text 3"/>
          <p:cNvSpPr/>
          <p:nvPr>
            <p:custDataLst>
              <p:tags r:id="rId2"/>
            </p:custDataLst>
          </p:nvPr>
        </p:nvSpPr>
        <p:spPr>
          <a:xfrm>
            <a:off x="571500" y="133350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8" name="Text 4"/>
          <p:cNvSpPr/>
          <p:nvPr>
            <p:custDataLst>
              <p:tags r:id="rId3"/>
            </p:custDataLst>
          </p:nvPr>
        </p:nvSpPr>
        <p:spPr>
          <a:xfrm>
            <a:off x="571500" y="1924050"/>
            <a:ext cx="511175" cy="2857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9" name="Text 5"/>
          <p:cNvSpPr/>
          <p:nvPr>
            <p:custDataLst>
              <p:tags r:id="rId4"/>
            </p:custDataLst>
          </p:nvPr>
        </p:nvSpPr>
        <p:spPr>
          <a:xfrm>
            <a:off x="2833688" y="133350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10" name="Text 6"/>
          <p:cNvSpPr/>
          <p:nvPr>
            <p:custDataLst>
              <p:tags r:id="rId5"/>
            </p:custDataLst>
          </p:nvPr>
        </p:nvSpPr>
        <p:spPr>
          <a:xfrm>
            <a:off x="2833688" y="1581150"/>
            <a:ext cx="1881187" cy="628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1" name="Text 7"/>
          <p:cNvSpPr/>
          <p:nvPr>
            <p:custDataLst>
              <p:tags r:id="rId6"/>
            </p:custDataLst>
          </p:nvPr>
        </p:nvSpPr>
        <p:spPr>
          <a:xfrm>
            <a:off x="571500" y="240030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12" name="Text 8"/>
          <p:cNvSpPr/>
          <p:nvPr>
            <p:custDataLst>
              <p:tags r:id="rId7"/>
            </p:custDataLst>
          </p:nvPr>
        </p:nvSpPr>
        <p:spPr>
          <a:xfrm>
            <a:off x="571500" y="2647950"/>
            <a:ext cx="1881187" cy="628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3" name="Text 9"/>
          <p:cNvSpPr/>
          <p:nvPr>
            <p:custDataLst>
              <p:tags r:id="rId8"/>
            </p:custDataLst>
          </p:nvPr>
        </p:nvSpPr>
        <p:spPr>
          <a:xfrm>
            <a:off x="2833688" y="240030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14" name="Text 10"/>
          <p:cNvSpPr/>
          <p:nvPr>
            <p:custDataLst>
              <p:tags r:id="rId9"/>
            </p:custDataLst>
          </p:nvPr>
        </p:nvSpPr>
        <p:spPr>
          <a:xfrm rot="21360000">
            <a:off x="2833688" y="2647950"/>
            <a:ext cx="1881187" cy="628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5" name="文本框 14"/>
          <p:cNvSpPr txBox="1"/>
          <p:nvPr/>
        </p:nvSpPr>
        <p:spPr>
          <a:xfrm>
            <a:off x="159385" y="285750"/>
            <a:ext cx="8338820" cy="3599815"/>
          </a:xfrm>
          <a:prstGeom prst="rect">
            <a:avLst/>
          </a:prstGeom>
          <a:noFill/>
        </p:spPr>
        <p:txBody>
          <a:bodyPr wrap="square" rtlCol="0">
            <a:spAutoFit/>
          </a:bodyPr>
          <a:p>
            <a:endParaRPr lang="zh-CN" altLang="en-US" b="1"/>
          </a:p>
          <a:p>
            <a:endParaRPr lang="zh-CN" altLang="en-US" b="1"/>
          </a:p>
          <a:p>
            <a:r>
              <a:rPr lang="zh-CN" altLang="en-US" sz="2400" b="1"/>
              <a:t>基于文本指令向图像中添加对象是图形编辑领域的</a:t>
            </a:r>
            <a:r>
              <a:rPr lang="zh-CN" altLang="en-US" sz="2400" b="1"/>
              <a:t>核心挑战：</a:t>
            </a:r>
            <a:endParaRPr lang="en-US" altLang="zh-CN" sz="2400" b="1"/>
          </a:p>
          <a:p>
            <a:endParaRPr lang="en-US" altLang="zh-CN"/>
          </a:p>
          <a:p>
            <a:r>
              <a:rPr lang="en-US" altLang="zh-CN"/>
              <a:t>必须在最大限度保持原场景外观结构的同时，实现新增物体的自然融合。这要求系统具备功能适配性（affordance）认知能力，即理解人与物体交互的深层语义知识，从而将物体放置在合理位置。</a:t>
            </a:r>
            <a:endParaRPr lang="en-US" altLang="zh-CN"/>
          </a:p>
          <a:p>
            <a:endParaRPr lang="en-US" altLang="zh-CN"/>
          </a:p>
          <a:p>
            <a:r>
              <a:rPr lang="zh-CN" altLang="en-US" sz="2400" b="1"/>
              <a:t>现有方法在执行对象插入任务时存在显著不足：</a:t>
            </a:r>
            <a:endParaRPr lang="zh-CN" altLang="en-US" sz="2400" b="1"/>
          </a:p>
          <a:p>
            <a:endParaRPr lang="en-US" altLang="zh-CN"/>
          </a:p>
          <a:p>
            <a:r>
              <a:rPr lang="en-US" altLang="zh-CN"/>
              <a:t>这些方法在将新对象与源图像及文本提示结合时，往往难以做出理想的平衡。</a:t>
            </a:r>
            <a:r>
              <a:rPr lang="zh-CN" altLang="en-US"/>
              <a:t>常见的三种错误模式：物体缺失、外观失真、功能失调。</a:t>
            </a: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5" name="Text 1"/>
          <p:cNvSpPr/>
          <p:nvPr/>
        </p:nvSpPr>
        <p:spPr>
          <a:xfrm>
            <a:off x="571500" y="191135"/>
            <a:ext cx="7534275" cy="761365"/>
          </a:xfrm>
          <a:prstGeom prst="rect">
            <a:avLst/>
          </a:prstGeom>
          <a:noFill/>
        </p:spPr>
        <p:txBody>
          <a:bodyPr vert="horz" wrap="square" lIns="0" tIns="0" rIns="0" bIns="0" rtlCol="0" anchor="ctr"/>
          <a:lstStyle/>
          <a:p>
            <a:pPr marL="0" indent="0" algn="l">
              <a:lnSpc>
                <a:spcPts val="3150"/>
              </a:lnSpc>
              <a:buNone/>
            </a:pPr>
            <a:r>
              <a:rPr lang="zh-CN" altLang="en-US" sz="2250" dirty="0"/>
              <a:t>针对这一问题，作者提出了</a:t>
            </a:r>
            <a:r>
              <a:rPr lang="en-US" altLang="zh-CN" sz="2250" dirty="0"/>
              <a:t>Add-it</a:t>
            </a:r>
            <a:r>
              <a:rPr lang="zh-CN" altLang="en-US" sz="2250" dirty="0"/>
              <a:t>方法：</a:t>
            </a:r>
            <a:endParaRPr lang="zh-CN" altLang="en-US" sz="2250" dirty="0"/>
          </a:p>
          <a:p>
            <a:pPr marL="0" indent="0" algn="l">
              <a:lnSpc>
                <a:spcPts val="3150"/>
              </a:lnSpc>
              <a:buNone/>
            </a:pPr>
            <a:endParaRPr lang="zh-CN" altLang="en-US" sz="2250" dirty="0"/>
          </a:p>
        </p:txBody>
      </p:sp>
      <p:sp>
        <p:nvSpPr>
          <p:cNvPr id="6" name="Text 2"/>
          <p:cNvSpPr/>
          <p:nvPr/>
        </p:nvSpPr>
        <p:spPr>
          <a:xfrm>
            <a:off x="571500" y="742950"/>
            <a:ext cx="40386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7" name="Text 3"/>
          <p:cNvSpPr/>
          <p:nvPr>
            <p:custDataLst>
              <p:tags r:id="rId2"/>
            </p:custDataLst>
          </p:nvPr>
        </p:nvSpPr>
        <p:spPr>
          <a:xfrm>
            <a:off x="571500" y="133350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8" name="Text 4"/>
          <p:cNvSpPr/>
          <p:nvPr>
            <p:custDataLst>
              <p:tags r:id="rId3"/>
            </p:custDataLst>
          </p:nvPr>
        </p:nvSpPr>
        <p:spPr>
          <a:xfrm>
            <a:off x="571500" y="1581150"/>
            <a:ext cx="1881187" cy="628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9" name="Text 5"/>
          <p:cNvSpPr/>
          <p:nvPr>
            <p:custDataLst>
              <p:tags r:id="rId4"/>
            </p:custDataLst>
          </p:nvPr>
        </p:nvSpPr>
        <p:spPr>
          <a:xfrm>
            <a:off x="2833688" y="133350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10" name="Text 6"/>
          <p:cNvSpPr/>
          <p:nvPr>
            <p:custDataLst>
              <p:tags r:id="rId5"/>
            </p:custDataLst>
          </p:nvPr>
        </p:nvSpPr>
        <p:spPr>
          <a:xfrm>
            <a:off x="2833688" y="1581150"/>
            <a:ext cx="1881187" cy="628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1" name="Text 7"/>
          <p:cNvSpPr/>
          <p:nvPr>
            <p:custDataLst>
              <p:tags r:id="rId6"/>
            </p:custDataLst>
          </p:nvPr>
        </p:nvSpPr>
        <p:spPr>
          <a:xfrm>
            <a:off x="571500" y="240030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12" name="Text 8"/>
          <p:cNvSpPr/>
          <p:nvPr>
            <p:custDataLst>
              <p:tags r:id="rId7"/>
            </p:custDataLst>
          </p:nvPr>
        </p:nvSpPr>
        <p:spPr>
          <a:xfrm>
            <a:off x="571500" y="2647950"/>
            <a:ext cx="1881187" cy="628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3" name="Text 9"/>
          <p:cNvSpPr/>
          <p:nvPr>
            <p:custDataLst>
              <p:tags r:id="rId8"/>
            </p:custDataLst>
          </p:nvPr>
        </p:nvSpPr>
        <p:spPr>
          <a:xfrm>
            <a:off x="2833688" y="240030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14" name="Text 10"/>
          <p:cNvSpPr/>
          <p:nvPr>
            <p:custDataLst>
              <p:tags r:id="rId9"/>
            </p:custDataLst>
          </p:nvPr>
        </p:nvSpPr>
        <p:spPr>
          <a:xfrm>
            <a:off x="2833688" y="2647950"/>
            <a:ext cx="1881187" cy="628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5" name="文本框 14"/>
          <p:cNvSpPr txBox="1"/>
          <p:nvPr/>
        </p:nvSpPr>
        <p:spPr>
          <a:xfrm>
            <a:off x="571500" y="663575"/>
            <a:ext cx="8034020" cy="4224655"/>
          </a:xfrm>
          <a:prstGeom prst="rect">
            <a:avLst/>
          </a:prstGeom>
          <a:noFill/>
        </p:spPr>
        <p:txBody>
          <a:bodyPr wrap="square" rtlCol="0">
            <a:noAutofit/>
          </a:bodyPr>
          <a:p>
            <a:r>
              <a:rPr lang="en-US" altLang="zh-CN"/>
              <a:t>Add-it</a:t>
            </a:r>
            <a:r>
              <a:rPr lang="zh-CN" altLang="en-US"/>
              <a:t>是</a:t>
            </a:r>
            <a:r>
              <a:rPr lang="en-US" altLang="zh-CN"/>
              <a:t>一种Training-Free的开放</a:t>
            </a:r>
            <a:r>
              <a:rPr lang="zh-CN" altLang="en-US"/>
              <a:t>世界</a:t>
            </a:r>
            <a:r>
              <a:rPr lang="en-US" altLang="zh-CN"/>
              <a:t>方法，旨在有效地利用</a:t>
            </a:r>
            <a:r>
              <a:rPr lang="zh-CN" altLang="en-US"/>
              <a:t>文生图基础模型</a:t>
            </a:r>
            <a:r>
              <a:rPr lang="en-US" altLang="zh-CN"/>
              <a:t>中储存的知识</a:t>
            </a:r>
            <a:r>
              <a:rPr lang="zh-CN" altLang="en-US"/>
              <a:t>实现物品自然添加。</a:t>
            </a:r>
            <a:endParaRPr lang="en-US" altLang="zh-CN"/>
          </a:p>
          <a:p>
            <a:endParaRPr lang="en-US" altLang="zh-CN"/>
          </a:p>
          <a:p>
            <a:endParaRPr lang="en-US" altLang="zh-CN"/>
          </a:p>
          <a:p>
            <a:endParaRPr lang="en-US" altLang="zh-CN"/>
          </a:p>
          <a:p>
            <a:r>
              <a:rPr lang="en-US" altLang="zh-CN"/>
              <a:t>Add-it通过扩展多模态自注意力机制，</a:t>
            </a:r>
            <a:r>
              <a:rPr lang="zh-CN" altLang="en-US"/>
              <a:t>同</a:t>
            </a:r>
            <a:endParaRPr lang="zh-CN" altLang="en-US"/>
          </a:p>
          <a:p>
            <a:r>
              <a:rPr lang="zh-CN" altLang="en-US"/>
              <a:t>时考虑</a:t>
            </a:r>
            <a:r>
              <a:rPr lang="en-US" altLang="zh-CN"/>
              <a:t>三个主要信息源：</a:t>
            </a:r>
            <a:r>
              <a:rPr lang="en-US" altLang="zh-CN" b="1"/>
              <a:t>源图像、文本</a:t>
            </a:r>
            <a:endParaRPr lang="en-US" altLang="zh-CN" b="1"/>
          </a:p>
          <a:p>
            <a:r>
              <a:rPr lang="en-US" altLang="zh-CN" b="1"/>
              <a:t>提示和生成图像</a:t>
            </a:r>
            <a:r>
              <a:rPr lang="en-US" altLang="zh-CN"/>
              <a:t>。这一创新性的加权扩</a:t>
            </a:r>
            <a:endParaRPr lang="en-US" altLang="zh-CN"/>
          </a:p>
          <a:p>
            <a:r>
              <a:rPr lang="en-US" altLang="zh-CN"/>
              <a:t>展</a:t>
            </a:r>
            <a:r>
              <a:rPr lang="zh-CN" altLang="en-US"/>
              <a:t>自</a:t>
            </a:r>
            <a:r>
              <a:rPr lang="en-US" altLang="zh-CN"/>
              <a:t>注意力机制确保了结构的一致性和</a:t>
            </a:r>
            <a:endParaRPr lang="en-US" altLang="zh-CN"/>
          </a:p>
          <a:p>
            <a:r>
              <a:rPr lang="en-US" altLang="zh-CN"/>
              <a:t>细节的保留，同时实现了新对象的自然</a:t>
            </a:r>
            <a:endParaRPr lang="en-US" altLang="zh-CN"/>
          </a:p>
          <a:p>
            <a:r>
              <a:rPr lang="en-US" altLang="zh-CN"/>
              <a:t>放置。</a:t>
            </a:r>
            <a:endParaRPr lang="en-US" altLang="zh-CN"/>
          </a:p>
        </p:txBody>
      </p:sp>
      <p:pic>
        <p:nvPicPr>
          <p:cNvPr id="16" name="图片 15" descr="J`CHQI}V080ATXC}@40~FBC"/>
          <p:cNvPicPr>
            <a:picLocks noChangeAspect="1"/>
          </p:cNvPicPr>
          <p:nvPr/>
        </p:nvPicPr>
        <p:blipFill>
          <a:blip r:embed="rId10"/>
          <a:stretch>
            <a:fillRect/>
          </a:stretch>
        </p:blipFill>
        <p:spPr>
          <a:xfrm>
            <a:off x="4802505" y="1631950"/>
            <a:ext cx="4341495" cy="3423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Add-it方法概述</a:t>
            </a:r>
            <a:endParaRPr lang="en-US" sz="3750" dirty="0"/>
          </a:p>
        </p:txBody>
      </p:sp>
      <p:sp>
        <p:nvSpPr>
          <p:cNvPr id="4" name="Shape 1"/>
          <p:cNvSpPr/>
          <p:nvPr/>
        </p:nvSpPr>
        <p:spPr>
          <a:xfrm>
            <a:off x="571500" y="4157662"/>
            <a:ext cx="4762500" cy="14288"/>
          </a:xfrm>
          <a:prstGeom prst="rect">
            <a:avLst/>
          </a:prstGeom>
          <a:solidFill>
            <a:srgbClr val="000000">
              <a:alpha val="30000"/>
            </a:srgbClr>
          </a:solidFill>
        </p:spPr>
      </p:sp>
      <p:sp>
        <p:nvSpPr>
          <p:cNvPr id="5" name="Text 2"/>
          <p:cNvSpPr/>
          <p:nvPr/>
        </p:nvSpPr>
        <p:spPr>
          <a:xfrm>
            <a:off x="571500" y="4362450"/>
            <a:ext cx="4762500"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p:spPr>
        <p:txBody>
          <a:bodyPr vert="horz" wrap="square" lIns="0" tIns="0" rIns="0" bIns="0" rtlCol="0" anchor="ctr"/>
          <a:lstStyle/>
          <a:p>
            <a:pPr marL="0" indent="0" algn="ctr">
              <a:lnSpc>
                <a:spcPts val="22500"/>
              </a:lnSpc>
              <a:buNone/>
            </a:pPr>
            <a:r>
              <a:rPr lang="en-US" sz="22500" b="1" dirty="0">
                <a:solidFill>
                  <a:srgbClr val="4784CB">
                    <a:alpha val="30000"/>
                  </a:srgbClr>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22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rcRect/>
          <a:stretch>
            <a:fillRect/>
          </a:stretch>
        </p:blipFill>
        <p:spPr>
          <a:xfrm>
            <a:off x="0" y="0"/>
            <a:ext cx="2952750" cy="5143500"/>
          </a:xfrm>
          <a:prstGeom prst="rect">
            <a:avLst/>
          </a:prstGeom>
        </p:spPr>
      </p:pic>
      <p:sp>
        <p:nvSpPr>
          <p:cNvPr id="4" name="Text 1"/>
          <p:cNvSpPr/>
          <p:nvPr/>
        </p:nvSpPr>
        <p:spPr>
          <a:xfrm>
            <a:off x="571500" y="3433763"/>
            <a:ext cx="1857375"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content</a:t>
            </a:r>
            <a:endParaRPr lang="en-US" sz="3750" dirty="0"/>
          </a:p>
        </p:txBody>
      </p:sp>
      <p:sp>
        <p:nvSpPr>
          <p:cNvPr id="5" name="Text 2"/>
          <p:cNvSpPr/>
          <p:nvPr/>
        </p:nvSpPr>
        <p:spPr>
          <a:xfrm>
            <a:off x="571500" y="4176713"/>
            <a:ext cx="1809750" cy="400050"/>
          </a:xfrm>
          <a:prstGeom prst="rect">
            <a:avLst/>
          </a:prstGeom>
          <a:noFill/>
        </p:spPr>
        <p:txBody>
          <a:bodyPr vert="horz" wrap="square" lIns="0" tIns="0" rIns="0" bIns="0" rtlCol="0" anchor="ctr"/>
          <a:lstStyle/>
          <a:p>
            <a:pPr marL="0" indent="0" algn="l">
              <a:lnSpc>
                <a:spcPts val="3150"/>
              </a:lnSpc>
              <a:buNone/>
            </a:pPr>
            <a:endParaRPr lang="en-US" sz="2250" dirty="0"/>
          </a:p>
        </p:txBody>
      </p:sp>
      <p:sp>
        <p:nvSpPr>
          <p:cNvPr id="6" name="Text 3"/>
          <p:cNvSpPr/>
          <p:nvPr>
            <p:custDataLst>
              <p:tags r:id="rId2"/>
            </p:custDataLst>
          </p:nvPr>
        </p:nvSpPr>
        <p:spPr>
          <a:xfrm>
            <a:off x="3073400" y="772381"/>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875" dirty="0"/>
          </a:p>
        </p:txBody>
      </p:sp>
      <p:sp>
        <p:nvSpPr>
          <p:cNvPr id="7" name="Text 4"/>
          <p:cNvSpPr/>
          <p:nvPr>
            <p:custDataLst>
              <p:tags r:id="rId3"/>
            </p:custDataLst>
          </p:nvPr>
        </p:nvSpPr>
        <p:spPr>
          <a:xfrm>
            <a:off x="3667951" y="1049081"/>
            <a:ext cx="5406200" cy="247269"/>
          </a:xfrm>
          <a:prstGeom prst="rect">
            <a:avLst/>
          </a:prstGeom>
          <a:noFill/>
        </p:spPr>
        <p:txBody>
          <a:bodyPr vert="horz" wrap="square" lIns="0" tIns="0" rIns="0" bIns="0" rtlCol="0" anchor="ctr"/>
          <a:lstStyle/>
          <a:p>
            <a:pPr marL="0" indent="0" algn="l">
              <a:lnSpc>
                <a:spcPts val="1650"/>
              </a:lnSpc>
              <a:buNone/>
            </a:pPr>
            <a:r>
              <a:rPr lang="en-US" sz="3200" b="1" dirty="0">
                <a:latin typeface="微软雅黑" panose="020B0503020204020204" pitchFamily="34" charset="-122"/>
                <a:ea typeface="微软雅黑" panose="020B0503020204020204" pitchFamily="34" charset="-122"/>
              </a:rPr>
              <a:t>加权扩展自注意机制</a:t>
            </a:r>
            <a:endParaRPr lang="en-US" sz="3200" b="1" dirty="0">
              <a:latin typeface="微软雅黑" panose="020B0503020204020204" pitchFamily="34" charset="-122"/>
              <a:ea typeface="微软雅黑" panose="020B0503020204020204" pitchFamily="34" charset="-122"/>
            </a:endParaRPr>
          </a:p>
        </p:txBody>
      </p:sp>
      <p:sp>
        <p:nvSpPr>
          <p:cNvPr id="9" name="Text 6"/>
          <p:cNvSpPr/>
          <p:nvPr>
            <p:custDataLst>
              <p:tags r:id="rId4"/>
            </p:custDataLst>
          </p:nvPr>
        </p:nvSpPr>
        <p:spPr>
          <a:xfrm>
            <a:off x="3073400" y="1514188"/>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875" dirty="0"/>
          </a:p>
        </p:txBody>
      </p:sp>
      <p:sp>
        <p:nvSpPr>
          <p:cNvPr id="10" name="Text 7"/>
          <p:cNvSpPr/>
          <p:nvPr>
            <p:custDataLst>
              <p:tags r:id="rId5"/>
            </p:custDataLst>
          </p:nvPr>
        </p:nvSpPr>
        <p:spPr>
          <a:xfrm>
            <a:off x="3667951" y="1826448"/>
            <a:ext cx="5406200" cy="247269"/>
          </a:xfrm>
          <a:prstGeom prst="rect">
            <a:avLst/>
          </a:prstGeom>
          <a:noFill/>
        </p:spPr>
        <p:txBody>
          <a:bodyPr vert="horz" wrap="square" lIns="0" tIns="0" rIns="0" bIns="0" rtlCol="0" anchor="ctr"/>
          <a:lstStyle/>
          <a:p>
            <a:pPr marL="0" indent="0" algn="l">
              <a:lnSpc>
                <a:spcPts val="1650"/>
              </a:lnSpc>
              <a:buNone/>
            </a:pPr>
            <a:r>
              <a:rPr 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噪声结构迁移</a:t>
            </a:r>
            <a:endParaRPr 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Text 9"/>
          <p:cNvSpPr/>
          <p:nvPr>
            <p:custDataLst>
              <p:tags r:id="rId6"/>
            </p:custDataLst>
          </p:nvPr>
        </p:nvSpPr>
        <p:spPr>
          <a:xfrm>
            <a:off x="3073400" y="2255995"/>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875" dirty="0"/>
          </a:p>
        </p:txBody>
      </p:sp>
      <p:sp>
        <p:nvSpPr>
          <p:cNvPr id="13" name="Text 10"/>
          <p:cNvSpPr/>
          <p:nvPr>
            <p:custDataLst>
              <p:tags r:id="rId7"/>
            </p:custDataLst>
          </p:nvPr>
        </p:nvSpPr>
        <p:spPr>
          <a:xfrm>
            <a:off x="3667951" y="2565080"/>
            <a:ext cx="5406200" cy="247269"/>
          </a:xfrm>
          <a:prstGeom prst="rect">
            <a:avLst/>
          </a:prstGeom>
          <a:noFill/>
        </p:spPr>
        <p:txBody>
          <a:bodyPr vert="horz" wrap="square" lIns="0" tIns="0" rIns="0" bIns="0" rtlCol="0" anchor="ctr"/>
          <a:lstStyle/>
          <a:p>
            <a:pPr marL="0" indent="0" algn="l">
              <a:lnSpc>
                <a:spcPts val="1650"/>
              </a:lnSpc>
              <a:buNone/>
            </a:pPr>
            <a:r>
              <a:rPr 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主观引导的潜在混合机制</a:t>
            </a:r>
            <a:endParaRPr 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5" name="Text 12"/>
          <p:cNvSpPr/>
          <p:nvPr>
            <p:custDataLst>
              <p:tags r:id="rId8"/>
            </p:custDataLst>
          </p:nvPr>
        </p:nvSpPr>
        <p:spPr>
          <a:xfrm>
            <a:off x="3073400" y="2997802"/>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875" dirty="0"/>
          </a:p>
        </p:txBody>
      </p:sp>
      <p:sp>
        <p:nvSpPr>
          <p:cNvPr id="16" name="Text 13"/>
          <p:cNvSpPr/>
          <p:nvPr>
            <p:custDataLst>
              <p:tags r:id="rId9"/>
            </p:custDataLst>
          </p:nvPr>
        </p:nvSpPr>
        <p:spPr>
          <a:xfrm>
            <a:off x="3667951" y="3285297"/>
            <a:ext cx="5406200" cy="247269"/>
          </a:xfrm>
          <a:prstGeom prst="rect">
            <a:avLst/>
          </a:prstGeom>
          <a:noFill/>
        </p:spPr>
        <p:txBody>
          <a:bodyPr vert="horz" wrap="square" lIns="0" tIns="0" rIns="0" bIns="0" rtlCol="0" anchor="ctr"/>
          <a:lstStyle/>
          <a:p>
            <a:pPr marL="0" indent="0" algn="l">
              <a:lnSpc>
                <a:spcPts val="1650"/>
              </a:lnSpc>
              <a:buNone/>
            </a:pPr>
            <a:r>
              <a:rPr lang="en-US" sz="3200" b="1" dirty="0">
                <a:latin typeface="微软雅黑" panose="020B0503020204020204" pitchFamily="34" charset="-122"/>
                <a:ea typeface="微软雅黑" panose="020B0503020204020204" pitchFamily="34" charset="-122"/>
              </a:rPr>
              <a:t>交互作用分析</a:t>
            </a:r>
            <a:endParaRPr lang="en-US" sz="3200" b="1" dirty="0">
              <a:latin typeface="微软雅黑" panose="020B0503020204020204" pitchFamily="34" charset="-122"/>
              <a:ea typeface="微软雅黑" panose="020B0503020204020204" pitchFamily="34" charset="-122"/>
            </a:endParaRPr>
          </a:p>
        </p:txBody>
      </p:sp>
      <p:sp>
        <p:nvSpPr>
          <p:cNvPr id="17" name="Text 14"/>
          <p:cNvSpPr/>
          <p:nvPr/>
        </p:nvSpPr>
        <p:spPr>
          <a:xfrm>
            <a:off x="4695825" y="4672171"/>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8" name="Text 15"/>
          <p:cNvSpPr/>
          <p:nvPr>
            <p:custDataLst>
              <p:tags r:id="rId10"/>
            </p:custDataLst>
          </p:nvPr>
        </p:nvSpPr>
        <p:spPr>
          <a:xfrm>
            <a:off x="3073400" y="3739515"/>
            <a:ext cx="550545" cy="393065"/>
          </a:xfrm>
          <a:prstGeom prst="rect">
            <a:avLst/>
          </a:prstGeom>
          <a:noFill/>
        </p:spPr>
        <p:txBody>
          <a:bodyPr vert="horz" wrap="square" lIns="0" tIns="0" rIns="0" bIns="0" rtlCol="0" anchor="ctr"/>
          <a:lstStyle/>
          <a:p>
            <a:pPr marL="0" indent="0" algn="l">
              <a:lnSpc>
                <a:spcPts val="3040"/>
              </a:lnSpc>
              <a:buNone/>
            </a:pPr>
            <a:endParaRPr lang="en-US" sz="1875" dirty="0"/>
          </a:p>
        </p:txBody>
      </p:sp>
      <p:sp>
        <p:nvSpPr>
          <p:cNvPr id="19" name="Text 16"/>
          <p:cNvSpPr/>
          <p:nvPr>
            <p:custDataLst>
              <p:tags r:id="rId11"/>
            </p:custDataLst>
          </p:nvPr>
        </p:nvSpPr>
        <p:spPr>
          <a:xfrm>
            <a:off x="3667951" y="4042979"/>
            <a:ext cx="5406200" cy="247269"/>
          </a:xfrm>
          <a:prstGeom prst="rect">
            <a:avLst/>
          </a:prstGeom>
          <a:noFill/>
        </p:spPr>
        <p:txBody>
          <a:bodyPr vert="horz" wrap="square" lIns="0" tIns="0" rIns="0" bIns="0" rtlCol="0" anchor="ctr"/>
          <a:lstStyle/>
          <a:p>
            <a:pPr marL="0" indent="0" algn="l">
              <a:lnSpc>
                <a:spcPts val="1650"/>
              </a:lnSpc>
              <a:buNone/>
            </a:pP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rcRect t="3571" b="3571"/>
          <a:stretch>
            <a:fillRect/>
          </a:stretch>
        </p:blipFill>
        <p:spPr>
          <a:xfrm>
            <a:off x="0" y="0"/>
            <a:ext cx="9144000" cy="809625"/>
          </a:xfrm>
          <a:prstGeom prst="rect">
            <a:avLst/>
          </a:prstGeom>
        </p:spPr>
      </p:pic>
      <p:sp>
        <p:nvSpPr>
          <p:cNvPr id="4" name="Text 1"/>
          <p:cNvSpPr/>
          <p:nvPr/>
        </p:nvSpPr>
        <p:spPr>
          <a:xfrm>
            <a:off x="571500" y="22860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加权拓展自注意力机制</a:t>
            </a:r>
            <a:endParaRPr lang="en-US" sz="2250" dirty="0"/>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7" name="Text 3"/>
          <p:cNvSpPr/>
          <p:nvPr/>
        </p:nvSpPr>
        <p:spPr>
          <a:xfrm>
            <a:off x="1019175" y="2828925"/>
            <a:ext cx="1449735" cy="723900"/>
          </a:xfrm>
          <a:prstGeom prst="rect">
            <a:avLst/>
          </a:prstGeom>
          <a:noFill/>
        </p:spPr>
        <p:txBody>
          <a:bodyPr vert="horz" wrap="square" lIns="0" tIns="0" rIns="0" bIns="0" rtlCol="0" anchor="ctr"/>
          <a:lstStyle/>
          <a:p>
            <a:pPr marL="0" indent="0">
              <a:lnSpc>
                <a:spcPts val="2700"/>
              </a:lnSpc>
              <a:buNone/>
            </a:pPr>
            <a:endParaRPr lang="en-US" sz="1650" dirty="0"/>
          </a:p>
        </p:txBody>
      </p:sp>
      <p:sp>
        <p:nvSpPr>
          <p:cNvPr id="8" name="Text 4"/>
          <p:cNvSpPr/>
          <p:nvPr/>
        </p:nvSpPr>
        <p:spPr>
          <a:xfrm>
            <a:off x="3573810" y="1609725"/>
            <a:ext cx="15621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9" name="Text 5"/>
          <p:cNvSpPr/>
          <p:nvPr/>
        </p:nvSpPr>
        <p:spPr>
          <a:xfrm>
            <a:off x="5593110" y="1466850"/>
            <a:ext cx="23050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0" name="Text 6"/>
          <p:cNvSpPr/>
          <p:nvPr/>
        </p:nvSpPr>
        <p:spPr>
          <a:xfrm>
            <a:off x="5593110" y="1828800"/>
            <a:ext cx="23050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1" name="Text 7"/>
          <p:cNvSpPr/>
          <p:nvPr/>
        </p:nvSpPr>
        <p:spPr>
          <a:xfrm>
            <a:off x="3573810" y="2333625"/>
            <a:ext cx="13716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2" name="Text 8"/>
          <p:cNvSpPr/>
          <p:nvPr/>
        </p:nvSpPr>
        <p:spPr>
          <a:xfrm>
            <a:off x="5402610" y="2190750"/>
            <a:ext cx="270510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3" name="Text 9"/>
          <p:cNvSpPr/>
          <p:nvPr/>
        </p:nvSpPr>
        <p:spPr>
          <a:xfrm>
            <a:off x="5402610" y="2552700"/>
            <a:ext cx="270510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4" name="Text 10"/>
          <p:cNvSpPr/>
          <p:nvPr/>
        </p:nvSpPr>
        <p:spPr>
          <a:xfrm>
            <a:off x="3573810" y="3267075"/>
            <a:ext cx="13716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5" name="Text 11"/>
          <p:cNvSpPr/>
          <p:nvPr/>
        </p:nvSpPr>
        <p:spPr>
          <a:xfrm>
            <a:off x="5402610" y="2914650"/>
            <a:ext cx="3257550" cy="6667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6" name="Text 12"/>
          <p:cNvSpPr/>
          <p:nvPr/>
        </p:nvSpPr>
        <p:spPr>
          <a:xfrm>
            <a:off x="5402610" y="3695700"/>
            <a:ext cx="32575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7" name="Text 13"/>
          <p:cNvSpPr/>
          <p:nvPr/>
        </p:nvSpPr>
        <p:spPr>
          <a:xfrm>
            <a:off x="3573810" y="4181475"/>
            <a:ext cx="1525935" cy="60960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8" name="Text 14"/>
          <p:cNvSpPr/>
          <p:nvPr/>
        </p:nvSpPr>
        <p:spPr>
          <a:xfrm>
            <a:off x="5556945" y="4076700"/>
            <a:ext cx="3167955" cy="45720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9" name="Text 15"/>
          <p:cNvSpPr/>
          <p:nvPr/>
        </p:nvSpPr>
        <p:spPr>
          <a:xfrm>
            <a:off x="5556945" y="4648200"/>
            <a:ext cx="3167955"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20" name="文本框 19"/>
          <p:cNvSpPr txBox="1"/>
          <p:nvPr/>
        </p:nvSpPr>
        <p:spPr>
          <a:xfrm>
            <a:off x="355600" y="1367790"/>
            <a:ext cx="8049260" cy="1476375"/>
          </a:xfrm>
          <a:prstGeom prst="rect">
            <a:avLst/>
          </a:prstGeom>
          <a:noFill/>
        </p:spPr>
        <p:txBody>
          <a:bodyPr wrap="square" rtlCol="0">
            <a:spAutoFit/>
          </a:bodyPr>
          <a:p>
            <a:r>
              <a:rPr lang="zh-CN" altLang="en-US"/>
              <a:t>加权扩展自注意机制是 Add-it 方法的基础。在传统的自注意机制中，模型只处理来自图像块和文本提示的输入，而在加权扩展自注意机制中，源图像的键和值被引入到注意力计算中，拓展了自注意力的范围，同时关注</a:t>
            </a:r>
            <a:r>
              <a:rPr lang="zh-CN" altLang="en-US">
                <a:sym typeface="+mn-ea"/>
              </a:rPr>
              <a:t>源图像</a:t>
            </a:r>
            <a:r>
              <a:rPr lang="en-US" altLang="zh-CN">
                <a:sym typeface="+mn-ea"/>
              </a:rPr>
              <a:t>(</a:t>
            </a:r>
            <a:r>
              <a:rPr lang="zh-CN" altLang="en-US">
                <a:sym typeface="+mn-ea"/>
              </a:rPr>
              <a:t>提供视觉参考、文本提示</a:t>
            </a:r>
            <a:r>
              <a:rPr lang="en-US" altLang="zh-CN">
                <a:sym typeface="+mn-ea"/>
              </a:rPr>
              <a:t>(</a:t>
            </a:r>
            <a:r>
              <a:rPr lang="zh-CN" altLang="en-US">
                <a:sym typeface="+mn-ea"/>
              </a:rPr>
              <a:t>描述编辑</a:t>
            </a:r>
            <a:r>
              <a:rPr lang="zh-CN" altLang="en-US">
                <a:sym typeface="+mn-ea"/>
              </a:rPr>
              <a:t>意图）和生成图像（待编辑目标）</a:t>
            </a:r>
            <a:r>
              <a:rPr lang="zh-CN" altLang="en-US"/>
              <a:t>。具体来说，注意力计算公式可表示为：</a:t>
            </a:r>
            <a:endParaRPr lang="zh-CN" altLang="en-US"/>
          </a:p>
        </p:txBody>
      </p:sp>
      <p:pic>
        <p:nvPicPr>
          <p:cNvPr id="21" name="图片 20" descr="}ZD7YDTA)HU%UICNZ08E$QG"/>
          <p:cNvPicPr>
            <a:picLocks noChangeAspect="1"/>
          </p:cNvPicPr>
          <p:nvPr/>
        </p:nvPicPr>
        <p:blipFill>
          <a:blip r:embed="rId2"/>
          <a:stretch>
            <a:fillRect/>
          </a:stretch>
        </p:blipFill>
        <p:spPr>
          <a:xfrm>
            <a:off x="1721485" y="2905760"/>
            <a:ext cx="5600700" cy="727710"/>
          </a:xfrm>
          <a:prstGeom prst="rect">
            <a:avLst/>
          </a:prstGeom>
        </p:spPr>
      </p:pic>
      <p:sp>
        <p:nvSpPr>
          <p:cNvPr id="23" name="文本框 22"/>
          <p:cNvSpPr txBox="1"/>
          <p:nvPr/>
        </p:nvSpPr>
        <p:spPr>
          <a:xfrm>
            <a:off x="457200" y="3881755"/>
            <a:ext cx="8115300" cy="1229995"/>
          </a:xfrm>
          <a:prstGeom prst="rect">
            <a:avLst/>
          </a:prstGeom>
          <a:noFill/>
        </p:spPr>
        <p:txBody>
          <a:bodyPr wrap="square" rtlCol="0">
            <a:spAutoFit/>
          </a:bodyPr>
          <a:p>
            <a:r>
              <a:rPr lang="zh-CN" altLang="en-US"/>
              <a:t>通过这种方式，Add-it 能够在生成过程中</a:t>
            </a:r>
            <a:r>
              <a:rPr lang="zh-CN" altLang="en-US" sz="2800" b="1"/>
              <a:t>平衡场景图像、文本提示、和目标图像的信息，</a:t>
            </a:r>
            <a:r>
              <a:rPr lang="zh-CN" altLang="en-US" b="1"/>
              <a:t>使得生成图像保留源图像结构的同时完成功能。</a:t>
            </a:r>
            <a:endParaRPr lang="zh-CN" altLang="en-US"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rcRect t="3571" b="3571"/>
          <a:stretch>
            <a:fillRect/>
          </a:stretch>
        </p:blipFill>
        <p:spPr>
          <a:xfrm>
            <a:off x="0" y="0"/>
            <a:ext cx="9144000" cy="809625"/>
          </a:xfrm>
          <a:prstGeom prst="rect">
            <a:avLst/>
          </a:prstGeom>
        </p:spPr>
      </p:pic>
      <p:sp>
        <p:nvSpPr>
          <p:cNvPr id="4" name="Text 1"/>
          <p:cNvSpPr/>
          <p:nvPr/>
        </p:nvSpPr>
        <p:spPr>
          <a:xfrm>
            <a:off x="571500" y="22860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噪声结构迁移</a:t>
            </a:r>
            <a:endParaRPr 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7" name="Text 3"/>
          <p:cNvSpPr/>
          <p:nvPr/>
        </p:nvSpPr>
        <p:spPr>
          <a:xfrm>
            <a:off x="1019175" y="2828925"/>
            <a:ext cx="1449735" cy="723900"/>
          </a:xfrm>
          <a:prstGeom prst="rect">
            <a:avLst/>
          </a:prstGeom>
          <a:noFill/>
        </p:spPr>
        <p:txBody>
          <a:bodyPr vert="horz" wrap="square" lIns="0" tIns="0" rIns="0" bIns="0" rtlCol="0" anchor="ctr"/>
          <a:lstStyle/>
          <a:p>
            <a:pPr marL="0" indent="0">
              <a:lnSpc>
                <a:spcPts val="2700"/>
              </a:lnSpc>
              <a:buNone/>
            </a:pPr>
            <a:endParaRPr lang="en-US" sz="1650" dirty="0"/>
          </a:p>
        </p:txBody>
      </p:sp>
      <p:sp>
        <p:nvSpPr>
          <p:cNvPr id="8" name="Text 4"/>
          <p:cNvSpPr/>
          <p:nvPr/>
        </p:nvSpPr>
        <p:spPr>
          <a:xfrm>
            <a:off x="3573810" y="1609725"/>
            <a:ext cx="15621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9" name="Text 5"/>
          <p:cNvSpPr/>
          <p:nvPr/>
        </p:nvSpPr>
        <p:spPr>
          <a:xfrm>
            <a:off x="5593110" y="1466850"/>
            <a:ext cx="23050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0" name="Text 6"/>
          <p:cNvSpPr/>
          <p:nvPr/>
        </p:nvSpPr>
        <p:spPr>
          <a:xfrm>
            <a:off x="5593110" y="1828800"/>
            <a:ext cx="23050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1" name="Text 7"/>
          <p:cNvSpPr/>
          <p:nvPr/>
        </p:nvSpPr>
        <p:spPr>
          <a:xfrm>
            <a:off x="3573810" y="2333625"/>
            <a:ext cx="13716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2" name="Text 8"/>
          <p:cNvSpPr/>
          <p:nvPr/>
        </p:nvSpPr>
        <p:spPr>
          <a:xfrm>
            <a:off x="5402610" y="2190750"/>
            <a:ext cx="270510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3" name="Text 9"/>
          <p:cNvSpPr/>
          <p:nvPr/>
        </p:nvSpPr>
        <p:spPr>
          <a:xfrm>
            <a:off x="5402610" y="2552700"/>
            <a:ext cx="270510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5" name="Text 11"/>
          <p:cNvSpPr/>
          <p:nvPr/>
        </p:nvSpPr>
        <p:spPr>
          <a:xfrm>
            <a:off x="5402610" y="2914650"/>
            <a:ext cx="3257550" cy="6667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7" name="Text 13"/>
          <p:cNvSpPr/>
          <p:nvPr/>
        </p:nvSpPr>
        <p:spPr>
          <a:xfrm>
            <a:off x="3573810" y="4181475"/>
            <a:ext cx="1525935" cy="60960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8" name="Text 14"/>
          <p:cNvSpPr/>
          <p:nvPr/>
        </p:nvSpPr>
        <p:spPr>
          <a:xfrm>
            <a:off x="5556945" y="4076700"/>
            <a:ext cx="3167955" cy="45720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9" name="Text 15"/>
          <p:cNvSpPr/>
          <p:nvPr/>
        </p:nvSpPr>
        <p:spPr>
          <a:xfrm>
            <a:off x="5556945" y="4648200"/>
            <a:ext cx="3167955" cy="247650"/>
          </a:xfrm>
          <a:prstGeom prst="rect">
            <a:avLst/>
          </a:prstGeom>
          <a:noFill/>
        </p:spPr>
        <p:txBody>
          <a:bodyPr vert="horz" wrap="square" lIns="0" tIns="0" rIns="0" bIns="0" rtlCol="0" anchor="ctr"/>
          <a:lstStyle/>
          <a:p>
            <a:pPr marL="0" indent="0" algn="l">
              <a:lnSpc>
                <a:spcPts val="1650"/>
              </a:lnSpc>
              <a:buNone/>
            </a:pPr>
            <a:endParaRPr lang="en-US" sz="1050" dirty="0"/>
          </a:p>
        </p:txBody>
      </p:sp>
      <p:pic>
        <p:nvPicPr>
          <p:cNvPr id="6" name="图片 5" descr="ER78TQN1X)DHVUU5%0S[MC9"/>
          <p:cNvPicPr>
            <a:picLocks noChangeAspect="1"/>
          </p:cNvPicPr>
          <p:nvPr/>
        </p:nvPicPr>
        <p:blipFill>
          <a:blip r:embed="rId2"/>
          <a:stretch>
            <a:fillRect/>
          </a:stretch>
        </p:blipFill>
        <p:spPr>
          <a:xfrm>
            <a:off x="0" y="809625"/>
            <a:ext cx="3486150" cy="3133725"/>
          </a:xfrm>
          <a:prstGeom prst="rect">
            <a:avLst/>
          </a:prstGeom>
        </p:spPr>
      </p:pic>
      <p:sp>
        <p:nvSpPr>
          <p:cNvPr id="22" name="文本框 21"/>
          <p:cNvSpPr txBox="1"/>
          <p:nvPr/>
        </p:nvSpPr>
        <p:spPr>
          <a:xfrm>
            <a:off x="167640" y="3886835"/>
            <a:ext cx="4315460" cy="904240"/>
          </a:xfrm>
          <a:prstGeom prst="rect">
            <a:avLst/>
          </a:prstGeom>
          <a:noFill/>
        </p:spPr>
        <p:txBody>
          <a:bodyPr wrap="square" rtlCol="0">
            <a:noAutofit/>
          </a:bodyPr>
          <a:p>
            <a:r>
              <a:rPr lang="zh-CN" altLang="en-US" sz="2000"/>
              <a:t>加权扩展注意力机制虽然能平衡源图像与文本提示的信息，但新增物体仍可能偏离场景上下文（例如狗的尺寸与椅子明显不匹配）。</a:t>
            </a:r>
            <a:endParaRPr lang="zh-CN" altLang="en-US" sz="2000"/>
          </a:p>
        </p:txBody>
      </p:sp>
      <p:sp>
        <p:nvSpPr>
          <p:cNvPr id="24" name="文本框 23"/>
          <p:cNvSpPr txBox="1"/>
          <p:nvPr/>
        </p:nvSpPr>
        <p:spPr>
          <a:xfrm>
            <a:off x="5136515" y="3205480"/>
            <a:ext cx="4007485" cy="1944370"/>
          </a:xfrm>
          <a:prstGeom prst="rect">
            <a:avLst/>
          </a:prstGeom>
          <a:noFill/>
        </p:spPr>
        <p:txBody>
          <a:bodyPr wrap="square" rtlCol="0">
            <a:noAutofit/>
          </a:bodyPr>
          <a:p>
            <a:endParaRPr lang="zh-CN" altLang="en-US"/>
          </a:p>
        </p:txBody>
      </p:sp>
      <p:sp>
        <p:nvSpPr>
          <p:cNvPr id="25" name="文本框 24"/>
          <p:cNvSpPr txBox="1"/>
          <p:nvPr/>
        </p:nvSpPr>
        <p:spPr>
          <a:xfrm>
            <a:off x="3615055" y="1396365"/>
            <a:ext cx="4951095" cy="2161540"/>
          </a:xfrm>
          <a:prstGeom prst="rect">
            <a:avLst/>
          </a:prstGeom>
          <a:noFill/>
        </p:spPr>
        <p:txBody>
          <a:bodyPr wrap="square" rtlCol="0">
            <a:no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将源图像潜变量添加高强度噪声，</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当噪声等级足够大时，进行去噪过程。</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既能保持源图像的全局结构特征（如空间布局、透视关系），又可灵活修改图像内容</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rcRect t="3571" b="3571"/>
          <a:stretch>
            <a:fillRect/>
          </a:stretch>
        </p:blipFill>
        <p:spPr>
          <a:xfrm>
            <a:off x="0" y="0"/>
            <a:ext cx="9144000" cy="809625"/>
          </a:xfrm>
          <a:prstGeom prst="rect">
            <a:avLst/>
          </a:prstGeom>
        </p:spPr>
      </p:pic>
      <p:sp>
        <p:nvSpPr>
          <p:cNvPr id="4" name="Text 1"/>
          <p:cNvSpPr/>
          <p:nvPr/>
        </p:nvSpPr>
        <p:spPr>
          <a:xfrm>
            <a:off x="571500" y="228600"/>
            <a:ext cx="8001000" cy="400050"/>
          </a:xfrm>
          <a:prstGeom prst="rect">
            <a:avLst/>
          </a:prstGeom>
          <a:noFill/>
        </p:spPr>
        <p:txBody>
          <a:bodyPr vert="horz" wrap="square" lIns="0" tIns="0" rIns="0" bIns="0" rtlCol="0" anchor="ctr"/>
          <a:lstStyle/>
          <a:p>
            <a:pPr marL="0" indent="0" algn="l">
              <a:lnSpc>
                <a:spcPts val="1650"/>
              </a:lnSpc>
              <a:buNone/>
            </a:pPr>
            <a:r>
              <a:rPr 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sym typeface="+mn-ea"/>
              </a:rPr>
              <a:t>主观引导的潜在混合机制</a:t>
            </a:r>
            <a:endParaRPr 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7" name="Text 3"/>
          <p:cNvSpPr/>
          <p:nvPr/>
        </p:nvSpPr>
        <p:spPr>
          <a:xfrm>
            <a:off x="1019175" y="2828925"/>
            <a:ext cx="1449735" cy="723900"/>
          </a:xfrm>
          <a:prstGeom prst="rect">
            <a:avLst/>
          </a:prstGeom>
          <a:noFill/>
        </p:spPr>
        <p:txBody>
          <a:bodyPr vert="horz" wrap="square" lIns="0" tIns="0" rIns="0" bIns="0" rtlCol="0" anchor="ctr"/>
          <a:lstStyle/>
          <a:p>
            <a:pPr marL="0" indent="0">
              <a:lnSpc>
                <a:spcPts val="2700"/>
              </a:lnSpc>
              <a:buNone/>
            </a:pPr>
            <a:endParaRPr lang="en-US" sz="1650" dirty="0"/>
          </a:p>
        </p:txBody>
      </p:sp>
      <p:sp>
        <p:nvSpPr>
          <p:cNvPr id="8" name="Text 4"/>
          <p:cNvSpPr/>
          <p:nvPr/>
        </p:nvSpPr>
        <p:spPr>
          <a:xfrm>
            <a:off x="3573810" y="1609725"/>
            <a:ext cx="15621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9" name="Text 5"/>
          <p:cNvSpPr/>
          <p:nvPr/>
        </p:nvSpPr>
        <p:spPr>
          <a:xfrm>
            <a:off x="5593110" y="1466850"/>
            <a:ext cx="23050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0" name="Text 6"/>
          <p:cNvSpPr/>
          <p:nvPr/>
        </p:nvSpPr>
        <p:spPr>
          <a:xfrm>
            <a:off x="5593110" y="1828800"/>
            <a:ext cx="23050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1" name="Text 7"/>
          <p:cNvSpPr/>
          <p:nvPr/>
        </p:nvSpPr>
        <p:spPr>
          <a:xfrm>
            <a:off x="3573810" y="2333625"/>
            <a:ext cx="13716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2" name="Text 8"/>
          <p:cNvSpPr/>
          <p:nvPr/>
        </p:nvSpPr>
        <p:spPr>
          <a:xfrm>
            <a:off x="5402610" y="2190750"/>
            <a:ext cx="270510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3" name="Text 9"/>
          <p:cNvSpPr/>
          <p:nvPr/>
        </p:nvSpPr>
        <p:spPr>
          <a:xfrm>
            <a:off x="5402610" y="2552700"/>
            <a:ext cx="270510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5" name="Text 11"/>
          <p:cNvSpPr/>
          <p:nvPr/>
        </p:nvSpPr>
        <p:spPr>
          <a:xfrm>
            <a:off x="5402610" y="2914650"/>
            <a:ext cx="3257550" cy="6667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7" name="Text 13"/>
          <p:cNvSpPr/>
          <p:nvPr/>
        </p:nvSpPr>
        <p:spPr>
          <a:xfrm>
            <a:off x="3573810" y="4181475"/>
            <a:ext cx="1525935" cy="60960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8" name="Text 14"/>
          <p:cNvSpPr/>
          <p:nvPr/>
        </p:nvSpPr>
        <p:spPr>
          <a:xfrm>
            <a:off x="5556945" y="4076700"/>
            <a:ext cx="3167955" cy="45720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9" name="Text 15"/>
          <p:cNvSpPr/>
          <p:nvPr/>
        </p:nvSpPr>
        <p:spPr>
          <a:xfrm>
            <a:off x="5556945" y="4648200"/>
            <a:ext cx="3167955"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2" name="文本框 1"/>
          <p:cNvSpPr txBox="1"/>
          <p:nvPr/>
        </p:nvSpPr>
        <p:spPr>
          <a:xfrm>
            <a:off x="265430" y="998855"/>
            <a:ext cx="8468995" cy="706755"/>
          </a:xfrm>
          <a:prstGeom prst="rect">
            <a:avLst/>
          </a:prstGeom>
          <a:noFill/>
        </p:spPr>
        <p:txBody>
          <a:bodyPr wrap="square" rtlCol="0">
            <a:spAutoFit/>
          </a:bodyPr>
          <a:p>
            <a:r>
              <a:rPr lang="zh-CN" altLang="en-US" sz="2000"/>
              <a:t>虽然结构和外观保持一致，但纹理和小型背景物体可能发生变化。为了</a:t>
            </a:r>
            <a:endParaRPr lang="zh-CN" altLang="en-US" sz="2000"/>
          </a:p>
          <a:p>
            <a:r>
              <a:rPr lang="zh-CN" altLang="en-US" sz="2000" b="1"/>
              <a:t>完整保留除新增物体以外的源图像内容</a:t>
            </a:r>
            <a:r>
              <a:rPr lang="zh-CN" altLang="en-US" sz="2000"/>
              <a:t>，提出潜在空间混合技术。</a:t>
            </a:r>
            <a:endParaRPr lang="zh-CN" altLang="en-US" sz="2000"/>
          </a:p>
        </p:txBody>
      </p:sp>
      <p:sp>
        <p:nvSpPr>
          <p:cNvPr id="16" name="文本框 15"/>
          <p:cNvSpPr txBox="1"/>
          <p:nvPr/>
        </p:nvSpPr>
        <p:spPr>
          <a:xfrm>
            <a:off x="457835" y="1991995"/>
            <a:ext cx="7064375" cy="1014730"/>
          </a:xfrm>
          <a:prstGeom prst="rect">
            <a:avLst/>
          </a:prstGeom>
          <a:noFill/>
        </p:spPr>
        <p:txBody>
          <a:bodyPr wrap="square" rtlCol="0">
            <a:spAutoFit/>
          </a:bodyPr>
          <a:p>
            <a:r>
              <a:rPr lang="zh-CN" altLang="en-US" sz="2000"/>
              <a:t>通过生成一个粗略的对象掩码，再将掩码细化，最后将目标图像与源图像进行混合。</a:t>
            </a:r>
            <a:endParaRPr lang="zh-CN" altLang="en-US" sz="2000"/>
          </a:p>
          <a:p>
            <a:endParaRPr lang="zh-CN" altLang="en-US" sz="2000"/>
          </a:p>
        </p:txBody>
      </p:sp>
      <p:pic>
        <p:nvPicPr>
          <p:cNvPr id="23" name="图片 22" descr="HJH4$W$`UCP$84NL9ULJS$U"/>
          <p:cNvPicPr>
            <a:picLocks noChangeAspect="1"/>
          </p:cNvPicPr>
          <p:nvPr/>
        </p:nvPicPr>
        <p:blipFill>
          <a:blip r:embed="rId2"/>
          <a:stretch>
            <a:fillRect/>
          </a:stretch>
        </p:blipFill>
        <p:spPr>
          <a:xfrm>
            <a:off x="457835" y="2816225"/>
            <a:ext cx="5414645" cy="920750"/>
          </a:xfrm>
          <a:prstGeom prst="rect">
            <a:avLst/>
          </a:prstGeom>
        </p:spPr>
      </p:pic>
      <p:sp>
        <p:nvSpPr>
          <p:cNvPr id="26" name="文本框 25"/>
          <p:cNvSpPr txBox="1"/>
          <p:nvPr/>
        </p:nvSpPr>
        <p:spPr>
          <a:xfrm>
            <a:off x="611505" y="3895725"/>
            <a:ext cx="4333875" cy="368300"/>
          </a:xfrm>
          <a:prstGeom prst="rect">
            <a:avLst/>
          </a:prstGeom>
          <a:noFill/>
        </p:spPr>
        <p:txBody>
          <a:bodyPr wrap="square" rtlCol="0">
            <a:spAutoFit/>
          </a:bodyPr>
          <a:p>
            <a:r>
              <a:rPr lang="zh-CN" altLang="en-US"/>
              <a:t>混合使用的公式，其中</a:t>
            </a:r>
            <a:r>
              <a:rPr lang="en-US" altLang="zh-CN"/>
              <a:t>M</a:t>
            </a:r>
            <a:r>
              <a:rPr lang="zh-CN" altLang="en-US"/>
              <a:t>为</a:t>
            </a:r>
            <a:r>
              <a:rPr lang="zh-CN" altLang="en-US"/>
              <a:t>掩码。</a:t>
            </a:r>
            <a:endParaRPr lang="zh-CN" altLang="en-US"/>
          </a:p>
        </p:txBody>
      </p:sp>
      <p:sp>
        <p:nvSpPr>
          <p:cNvPr id="30" name="文本框 29"/>
          <p:cNvSpPr txBox="1"/>
          <p:nvPr/>
        </p:nvSpPr>
        <p:spPr>
          <a:xfrm>
            <a:off x="611505" y="4606925"/>
            <a:ext cx="6012815" cy="368300"/>
          </a:xfrm>
          <a:prstGeom prst="rect">
            <a:avLst/>
          </a:prstGeom>
          <a:noFill/>
        </p:spPr>
        <p:txBody>
          <a:bodyPr wrap="square" rtlCol="0">
            <a:spAutoFit/>
          </a:bodyPr>
          <a:p>
            <a:r>
              <a:rPr lang="zh-CN" altLang="en-US"/>
              <a:t>确保了在插入新对象的同时，保留源图像中的</a:t>
            </a:r>
            <a:r>
              <a:rPr lang="zh-CN" altLang="en-US"/>
              <a:t>背景细节。</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rcRect t="3571" b="3571"/>
          <a:stretch>
            <a:fillRect/>
          </a:stretch>
        </p:blipFill>
        <p:spPr>
          <a:xfrm>
            <a:off x="0" y="0"/>
            <a:ext cx="9144000" cy="809625"/>
          </a:xfrm>
          <a:prstGeom prst="rect">
            <a:avLst/>
          </a:prstGeom>
        </p:spPr>
      </p:pic>
      <p:sp>
        <p:nvSpPr>
          <p:cNvPr id="4" name="Text 1"/>
          <p:cNvSpPr/>
          <p:nvPr/>
        </p:nvSpPr>
        <p:spPr>
          <a:xfrm>
            <a:off x="571500" y="22860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交互作用分析</a:t>
            </a:r>
            <a:endParaRPr 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7" name="Text 3"/>
          <p:cNvSpPr/>
          <p:nvPr/>
        </p:nvSpPr>
        <p:spPr>
          <a:xfrm>
            <a:off x="1019175" y="2828925"/>
            <a:ext cx="1449735" cy="723900"/>
          </a:xfrm>
          <a:prstGeom prst="rect">
            <a:avLst/>
          </a:prstGeom>
          <a:noFill/>
        </p:spPr>
        <p:txBody>
          <a:bodyPr vert="horz" wrap="square" lIns="0" tIns="0" rIns="0" bIns="0" rtlCol="0" anchor="ctr"/>
          <a:lstStyle/>
          <a:p>
            <a:pPr marL="0" indent="0">
              <a:lnSpc>
                <a:spcPts val="2700"/>
              </a:lnSpc>
              <a:buNone/>
            </a:pPr>
            <a:endParaRPr lang="en-US" sz="1650" dirty="0"/>
          </a:p>
        </p:txBody>
      </p:sp>
      <p:sp>
        <p:nvSpPr>
          <p:cNvPr id="8" name="Text 4"/>
          <p:cNvSpPr/>
          <p:nvPr/>
        </p:nvSpPr>
        <p:spPr>
          <a:xfrm>
            <a:off x="3573810" y="1609725"/>
            <a:ext cx="15621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9" name="Text 5"/>
          <p:cNvSpPr/>
          <p:nvPr/>
        </p:nvSpPr>
        <p:spPr>
          <a:xfrm>
            <a:off x="5593110" y="1466850"/>
            <a:ext cx="23050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0" name="Text 6"/>
          <p:cNvSpPr/>
          <p:nvPr/>
        </p:nvSpPr>
        <p:spPr>
          <a:xfrm>
            <a:off x="5593110" y="1828800"/>
            <a:ext cx="23050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1" name="Text 7"/>
          <p:cNvSpPr/>
          <p:nvPr/>
        </p:nvSpPr>
        <p:spPr>
          <a:xfrm>
            <a:off x="3573810" y="2333625"/>
            <a:ext cx="13716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2" name="Text 8"/>
          <p:cNvSpPr/>
          <p:nvPr/>
        </p:nvSpPr>
        <p:spPr>
          <a:xfrm>
            <a:off x="5402610" y="2190750"/>
            <a:ext cx="270510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3" name="Text 9"/>
          <p:cNvSpPr/>
          <p:nvPr/>
        </p:nvSpPr>
        <p:spPr>
          <a:xfrm>
            <a:off x="5402610" y="2552700"/>
            <a:ext cx="270510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4" name="Text 10"/>
          <p:cNvSpPr/>
          <p:nvPr/>
        </p:nvSpPr>
        <p:spPr>
          <a:xfrm>
            <a:off x="3573810" y="3267075"/>
            <a:ext cx="13716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5" name="Text 11"/>
          <p:cNvSpPr/>
          <p:nvPr/>
        </p:nvSpPr>
        <p:spPr>
          <a:xfrm>
            <a:off x="5402610" y="2914650"/>
            <a:ext cx="3257550" cy="6667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6" name="Text 12"/>
          <p:cNvSpPr/>
          <p:nvPr/>
        </p:nvSpPr>
        <p:spPr>
          <a:xfrm>
            <a:off x="5402610" y="3695700"/>
            <a:ext cx="32575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7" name="Text 13"/>
          <p:cNvSpPr/>
          <p:nvPr/>
        </p:nvSpPr>
        <p:spPr>
          <a:xfrm>
            <a:off x="3573810" y="4181475"/>
            <a:ext cx="1525935" cy="60960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8" name="Text 14"/>
          <p:cNvSpPr/>
          <p:nvPr/>
        </p:nvSpPr>
        <p:spPr>
          <a:xfrm>
            <a:off x="5556945" y="4076700"/>
            <a:ext cx="3167955" cy="45720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9" name="Text 15"/>
          <p:cNvSpPr/>
          <p:nvPr/>
        </p:nvSpPr>
        <p:spPr>
          <a:xfrm>
            <a:off x="5556945" y="4648200"/>
            <a:ext cx="3167955"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20" name="文本框 19"/>
          <p:cNvSpPr txBox="1"/>
          <p:nvPr/>
        </p:nvSpPr>
        <p:spPr>
          <a:xfrm>
            <a:off x="72390" y="897255"/>
            <a:ext cx="2962275" cy="3969385"/>
          </a:xfrm>
          <a:prstGeom prst="rect">
            <a:avLst/>
          </a:prstGeom>
          <a:noFill/>
        </p:spPr>
        <p:txBody>
          <a:bodyPr wrap="square" rtlCol="0">
            <a:spAutoFit/>
          </a:bodyPr>
          <a:p>
            <a:r>
              <a:rPr lang="zh-CN" altLang="en-US"/>
              <a:t>架构概述：给定源噪声XT_source、目标噪声XT_target和文本提示P_target的元组，我们首先应用结构迁移将源图像的结构注入目标图像。随后扩展自注意力模块，使XT_target同时从P_target和XT_source提取键值对，并为不同来源分配独立权重。最后通过主体引导的潜在混合技术保留源图像的精细细节。</a:t>
            </a:r>
            <a:endParaRPr lang="zh-CN" altLang="en-US"/>
          </a:p>
          <a:p>
            <a:endParaRPr lang="zh-CN" altLang="en-US"/>
          </a:p>
          <a:p>
            <a:endParaRPr lang="zh-CN" altLang="en-US"/>
          </a:p>
        </p:txBody>
      </p:sp>
      <p:sp>
        <p:nvSpPr>
          <p:cNvPr id="6" name="文本框 5"/>
          <p:cNvSpPr txBox="1"/>
          <p:nvPr/>
        </p:nvSpPr>
        <p:spPr>
          <a:xfrm>
            <a:off x="479425" y="3585845"/>
            <a:ext cx="8093075" cy="745490"/>
          </a:xfrm>
          <a:prstGeom prst="rect">
            <a:avLst/>
          </a:prstGeom>
          <a:noFill/>
        </p:spPr>
        <p:txBody>
          <a:bodyPr wrap="square" rtlCol="0">
            <a:noAutofit/>
          </a:bodyPr>
          <a:p>
            <a:endParaRPr lang="zh-CN" altLang="en-US"/>
          </a:p>
        </p:txBody>
      </p:sp>
      <p:pic>
        <p:nvPicPr>
          <p:cNvPr id="21" name="图片 20" descr="7}BNOXC~POG$TMPRN]AU1WM"/>
          <p:cNvPicPr>
            <a:picLocks noChangeAspect="1"/>
          </p:cNvPicPr>
          <p:nvPr/>
        </p:nvPicPr>
        <p:blipFill>
          <a:blip r:embed="rId2"/>
          <a:stretch>
            <a:fillRect/>
          </a:stretch>
        </p:blipFill>
        <p:spPr>
          <a:xfrm>
            <a:off x="2931795" y="1209675"/>
            <a:ext cx="6045200" cy="31813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p:spPr>
        <p:txBody>
          <a:bodyPr vert="horz" wrap="square" lIns="0" tIns="0" rIns="0" bIns="0" rtlCol="0" anchor="ctr"/>
          <a:lstStyle/>
          <a:p>
            <a:pPr marL="0" indent="0" algn="l">
              <a:lnSpc>
                <a:spcPts val="5250"/>
              </a:lnSpc>
              <a:buNone/>
            </a:pPr>
            <a:r>
              <a:rPr lang="zh-CN" alt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评估</a:t>
            </a:r>
            <a:endParaRPr lang="zh-CN" alt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1"/>
          <p:cNvSpPr/>
          <p:nvPr/>
        </p:nvSpPr>
        <p:spPr>
          <a:xfrm>
            <a:off x="571500" y="4157662"/>
            <a:ext cx="4762500" cy="14288"/>
          </a:xfrm>
          <a:prstGeom prst="rect">
            <a:avLst/>
          </a:prstGeom>
          <a:solidFill>
            <a:srgbClr val="000000">
              <a:alpha val="30000"/>
            </a:srgbClr>
          </a:solidFill>
        </p:spPr>
      </p:sp>
      <p:sp>
        <p:nvSpPr>
          <p:cNvPr id="5" name="Text 2"/>
          <p:cNvSpPr/>
          <p:nvPr/>
        </p:nvSpPr>
        <p:spPr>
          <a:xfrm>
            <a:off x="571500" y="4362450"/>
            <a:ext cx="4762500"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p:spPr>
        <p:txBody>
          <a:bodyPr vert="horz" wrap="square" lIns="0" tIns="0" rIns="0" bIns="0" rtlCol="0" anchor="ctr"/>
          <a:lstStyle/>
          <a:p>
            <a:pPr marL="0" indent="0" algn="ctr">
              <a:lnSpc>
                <a:spcPts val="22500"/>
              </a:lnSpc>
              <a:buNone/>
            </a:pPr>
            <a:r>
              <a:rPr lang="en-US" sz="22500" b="1" dirty="0">
                <a:solidFill>
                  <a:srgbClr val="4784CB">
                    <a:alpha val="30000"/>
                  </a:srgbClr>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22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2952750" cy="5143500"/>
          </a:xfrm>
          <a:prstGeom prst="rect">
            <a:avLst/>
          </a:prstGeom>
        </p:spPr>
      </p:pic>
      <p:sp>
        <p:nvSpPr>
          <p:cNvPr id="4" name="Text 1"/>
          <p:cNvSpPr/>
          <p:nvPr/>
        </p:nvSpPr>
        <p:spPr>
          <a:xfrm>
            <a:off x="571500" y="3433763"/>
            <a:ext cx="1857375"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content</a:t>
            </a:r>
            <a:endParaRPr lang="en-US" sz="3750" dirty="0"/>
          </a:p>
        </p:txBody>
      </p:sp>
      <p:sp>
        <p:nvSpPr>
          <p:cNvPr id="5" name="Text 2"/>
          <p:cNvSpPr/>
          <p:nvPr/>
        </p:nvSpPr>
        <p:spPr>
          <a:xfrm>
            <a:off x="571500" y="4176713"/>
            <a:ext cx="1809750" cy="400050"/>
          </a:xfrm>
          <a:prstGeom prst="rect">
            <a:avLst/>
          </a:prstGeom>
          <a:noFill/>
        </p:spPr>
        <p:txBody>
          <a:bodyPr vert="horz" wrap="square" lIns="0" tIns="0" rIns="0" bIns="0" rtlCol="0" anchor="ctr"/>
          <a:lstStyle/>
          <a:p>
            <a:pPr marL="0" indent="0" algn="l">
              <a:lnSpc>
                <a:spcPts val="3150"/>
              </a:lnSpc>
              <a:buNone/>
            </a:pPr>
            <a:r>
              <a:rPr lang="en-US" sz="22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2250" dirty="0"/>
          </a:p>
        </p:txBody>
      </p:sp>
      <p:sp>
        <p:nvSpPr>
          <p:cNvPr id="6" name="Text 3"/>
          <p:cNvSpPr/>
          <p:nvPr>
            <p:custDataLst>
              <p:tags r:id="rId2"/>
            </p:custDataLst>
          </p:nvPr>
        </p:nvSpPr>
        <p:spPr>
          <a:xfrm>
            <a:off x="3073400" y="772381"/>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875" dirty="0"/>
          </a:p>
        </p:txBody>
      </p:sp>
      <p:sp>
        <p:nvSpPr>
          <p:cNvPr id="7" name="Text 4"/>
          <p:cNvSpPr/>
          <p:nvPr>
            <p:custDataLst>
              <p:tags r:id="rId3"/>
            </p:custDataLst>
          </p:nvPr>
        </p:nvSpPr>
        <p:spPr>
          <a:xfrm>
            <a:off x="3667951" y="1049081"/>
            <a:ext cx="5406200" cy="247269"/>
          </a:xfrm>
          <a:prstGeom prst="rect">
            <a:avLst/>
          </a:prstGeom>
          <a:noFill/>
        </p:spPr>
        <p:txBody>
          <a:bodyPr vert="horz" wrap="square" lIns="0" tIns="0" rIns="0" bIns="0" rtlCol="0" anchor="ctr"/>
          <a:lstStyle/>
          <a:p>
            <a:pPr marL="0" indent="0" algn="l">
              <a:lnSpc>
                <a:spcPts val="1650"/>
              </a:lnSpc>
              <a:buNone/>
            </a:pPr>
            <a:r>
              <a:rPr lang="en-US" sz="3200" b="1" dirty="0">
                <a:latin typeface="微软雅黑" panose="020B0503020204020204" pitchFamily="34" charset="-122"/>
                <a:ea typeface="微软雅黑" panose="020B0503020204020204" pitchFamily="34" charset="-122"/>
              </a:rPr>
              <a:t>实验设定</a:t>
            </a:r>
            <a:endParaRPr lang="zh-CN" altLang="en-US" sz="3200" b="1" dirty="0">
              <a:latin typeface="微软雅黑" panose="020B0503020204020204" pitchFamily="34" charset="-122"/>
              <a:ea typeface="微软雅黑" panose="020B0503020204020204" pitchFamily="34" charset="-122"/>
            </a:endParaRPr>
          </a:p>
        </p:txBody>
      </p:sp>
      <p:sp>
        <p:nvSpPr>
          <p:cNvPr id="8" name="Text 5"/>
          <p:cNvSpPr/>
          <p:nvPr/>
        </p:nvSpPr>
        <p:spPr>
          <a:xfrm>
            <a:off x="3990975" y="1307306"/>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9" name="Text 6"/>
          <p:cNvSpPr/>
          <p:nvPr>
            <p:custDataLst>
              <p:tags r:id="rId4"/>
            </p:custDataLst>
          </p:nvPr>
        </p:nvSpPr>
        <p:spPr>
          <a:xfrm>
            <a:off x="3073400" y="1514188"/>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875" dirty="0"/>
          </a:p>
        </p:txBody>
      </p:sp>
      <p:sp>
        <p:nvSpPr>
          <p:cNvPr id="10" name="Text 7"/>
          <p:cNvSpPr/>
          <p:nvPr>
            <p:custDataLst>
              <p:tags r:id="rId5"/>
            </p:custDataLst>
          </p:nvPr>
        </p:nvSpPr>
        <p:spPr>
          <a:xfrm>
            <a:off x="3667951" y="1826448"/>
            <a:ext cx="5406200" cy="247269"/>
          </a:xfrm>
          <a:prstGeom prst="rect">
            <a:avLst/>
          </a:prstGeom>
          <a:noFill/>
        </p:spPr>
        <p:txBody>
          <a:bodyPr vert="horz" wrap="square" lIns="0" tIns="0" rIns="0" bIns="0" rtlCol="0" anchor="ctr"/>
          <a:lstStyle/>
          <a:p>
            <a:pPr marL="0" indent="0" algn="l">
              <a:lnSpc>
                <a:spcPts val="1650"/>
              </a:lnSpc>
              <a:buNone/>
            </a:pPr>
            <a:r>
              <a:rPr lang="zh-CN" altLang="en-US" sz="3200" b="1" dirty="0">
                <a:latin typeface="微软雅黑" panose="020B0503020204020204" pitchFamily="34" charset="-122"/>
                <a:ea typeface="微软雅黑" panose="020B0503020204020204" pitchFamily="34" charset="-122"/>
              </a:rPr>
              <a:t>评估</a:t>
            </a:r>
            <a:r>
              <a:rPr lang="zh-CN" altLang="en-US" sz="3200" b="1" dirty="0">
                <a:latin typeface="微软雅黑" panose="020B0503020204020204" pitchFamily="34" charset="-122"/>
                <a:ea typeface="微软雅黑" panose="020B0503020204020204" pitchFamily="34" charset="-122"/>
              </a:rPr>
              <a:t>指标</a:t>
            </a:r>
            <a:endParaRPr lang="zh-CN" altLang="en-US" sz="3200" b="1" dirty="0">
              <a:latin typeface="微软雅黑" panose="020B0503020204020204" pitchFamily="34" charset="-122"/>
              <a:ea typeface="微软雅黑" panose="020B0503020204020204" pitchFamily="34" charset="-122"/>
            </a:endParaRPr>
          </a:p>
        </p:txBody>
      </p:sp>
      <p:sp>
        <p:nvSpPr>
          <p:cNvPr id="11" name="Text 8"/>
          <p:cNvSpPr/>
          <p:nvPr/>
        </p:nvSpPr>
        <p:spPr>
          <a:xfrm>
            <a:off x="3990975" y="1935956"/>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2" name="Text 9"/>
          <p:cNvSpPr/>
          <p:nvPr>
            <p:custDataLst>
              <p:tags r:id="rId6"/>
            </p:custDataLst>
          </p:nvPr>
        </p:nvSpPr>
        <p:spPr>
          <a:xfrm>
            <a:off x="3073400" y="2255995"/>
            <a:ext cx="415862" cy="393382"/>
          </a:xfrm>
          <a:prstGeom prst="rect">
            <a:avLst/>
          </a:prstGeom>
          <a:noFill/>
        </p:spPr>
        <p:txBody>
          <a:bodyPr vert="horz" wrap="square" lIns="0" tIns="0" rIns="0" bIns="0" rtlCol="0" anchor="ctr"/>
          <a:lstStyle/>
          <a:p>
            <a:pPr marL="0" indent="0" algn="l">
              <a:lnSpc>
                <a:spcPts val="3040"/>
              </a:lnSpc>
              <a:buNone/>
            </a:pPr>
            <a:r>
              <a:rPr lang="en-US" sz="1875" b="1" dirty="0">
                <a:solidFill>
                  <a:srgbClr val="4784CB"/>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875" dirty="0"/>
          </a:p>
        </p:txBody>
      </p:sp>
      <p:sp>
        <p:nvSpPr>
          <p:cNvPr id="13" name="Text 10"/>
          <p:cNvSpPr/>
          <p:nvPr>
            <p:custDataLst>
              <p:tags r:id="rId7"/>
            </p:custDataLst>
          </p:nvPr>
        </p:nvSpPr>
        <p:spPr>
          <a:xfrm>
            <a:off x="3667951" y="2565080"/>
            <a:ext cx="5406200" cy="247269"/>
          </a:xfrm>
          <a:prstGeom prst="rect">
            <a:avLst/>
          </a:prstGeom>
          <a:noFill/>
        </p:spPr>
        <p:txBody>
          <a:bodyPr vert="horz" wrap="square" lIns="0" tIns="0" rIns="0" bIns="0" rtlCol="0" anchor="ctr"/>
          <a:lstStyle/>
          <a:p>
            <a:pPr marL="0" indent="0" algn="l">
              <a:lnSpc>
                <a:spcPts val="1650"/>
              </a:lnSpc>
              <a:buNone/>
            </a:pPr>
            <a:endParaRPr lang="zh-CN" altLang="en-US" sz="3200" b="1" dirty="0">
              <a:latin typeface="微软雅黑" panose="020B0503020204020204" pitchFamily="34" charset="-122"/>
              <a:ea typeface="微软雅黑" panose="020B0503020204020204" pitchFamily="34" charset="-122"/>
              <a:sym typeface="+mn-ea"/>
            </a:endParaRPr>
          </a:p>
          <a:p>
            <a:pPr marL="0" indent="0" algn="l">
              <a:lnSpc>
                <a:spcPts val="1650"/>
              </a:lnSpc>
              <a:buNone/>
            </a:pPr>
            <a:r>
              <a:rPr lang="zh-CN" altLang="en-US" sz="3200" b="1" dirty="0">
                <a:latin typeface="微软雅黑" panose="020B0503020204020204" pitchFamily="34" charset="-122"/>
                <a:ea typeface="微软雅黑" panose="020B0503020204020204" pitchFamily="34" charset="-122"/>
                <a:sym typeface="+mn-ea"/>
              </a:rPr>
              <a:t>实验结果</a:t>
            </a:r>
            <a:endParaRPr lang="zh-CN" altLang="en-US" sz="3200" b="1" dirty="0">
              <a:latin typeface="微软雅黑" panose="020B0503020204020204" pitchFamily="34" charset="-122"/>
              <a:ea typeface="微软雅黑" panose="020B0503020204020204" pitchFamily="34" charset="-122"/>
            </a:endParaRPr>
          </a:p>
          <a:p>
            <a:pPr marL="0" indent="0" algn="l">
              <a:lnSpc>
                <a:spcPts val="1650"/>
              </a:lnSpc>
              <a:buNone/>
            </a:pPr>
            <a:endParaRPr lang="zh-CN" altLang="en-US" sz="3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4" name="Text 11"/>
          <p:cNvSpPr/>
          <p:nvPr/>
        </p:nvSpPr>
        <p:spPr>
          <a:xfrm>
            <a:off x="3990975" y="2564606"/>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5" name="Text 12"/>
          <p:cNvSpPr/>
          <p:nvPr>
            <p:custDataLst>
              <p:tags r:id="rId8"/>
            </p:custDataLst>
          </p:nvPr>
        </p:nvSpPr>
        <p:spPr>
          <a:xfrm>
            <a:off x="3073400" y="2997802"/>
            <a:ext cx="415862" cy="393382"/>
          </a:xfrm>
          <a:prstGeom prst="rect">
            <a:avLst/>
          </a:prstGeom>
          <a:noFill/>
        </p:spPr>
        <p:txBody>
          <a:bodyPr vert="horz" wrap="square" lIns="0" tIns="0" rIns="0" bIns="0" rtlCol="0" anchor="ctr"/>
          <a:lstStyle/>
          <a:p>
            <a:pPr marL="0" indent="0" algn="l">
              <a:lnSpc>
                <a:spcPts val="3040"/>
              </a:lnSpc>
              <a:buNone/>
            </a:pPr>
            <a:endParaRPr lang="en-US" sz="1875" dirty="0"/>
          </a:p>
        </p:txBody>
      </p:sp>
      <p:sp>
        <p:nvSpPr>
          <p:cNvPr id="16" name="Text 13"/>
          <p:cNvSpPr/>
          <p:nvPr>
            <p:custDataLst>
              <p:tags r:id="rId9"/>
            </p:custDataLst>
          </p:nvPr>
        </p:nvSpPr>
        <p:spPr>
          <a:xfrm>
            <a:off x="3667951" y="3285297"/>
            <a:ext cx="5406200" cy="247269"/>
          </a:xfrm>
          <a:prstGeom prst="rect">
            <a:avLst/>
          </a:prstGeom>
          <a:noFill/>
        </p:spPr>
        <p:txBody>
          <a:bodyPr vert="horz" wrap="square" lIns="0" tIns="0" rIns="0" bIns="0" rtlCol="0" anchor="ctr"/>
          <a:lstStyle/>
          <a:p>
            <a:pPr marL="0" indent="0" algn="l">
              <a:lnSpc>
                <a:spcPts val="1650"/>
              </a:lnSpc>
              <a:buNone/>
            </a:pPr>
            <a:endParaRPr lang="en-US" sz="3200" dirty="0"/>
          </a:p>
        </p:txBody>
      </p:sp>
      <p:sp>
        <p:nvSpPr>
          <p:cNvPr id="17" name="Text 14"/>
          <p:cNvSpPr/>
          <p:nvPr/>
        </p:nvSpPr>
        <p:spPr>
          <a:xfrm>
            <a:off x="3780155" y="3303746"/>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8" name="Text 15"/>
          <p:cNvSpPr/>
          <p:nvPr>
            <p:custDataLst>
              <p:tags r:id="rId10"/>
            </p:custDataLst>
          </p:nvPr>
        </p:nvSpPr>
        <p:spPr>
          <a:xfrm>
            <a:off x="3073400" y="3739515"/>
            <a:ext cx="550545" cy="393065"/>
          </a:xfrm>
          <a:prstGeom prst="rect">
            <a:avLst/>
          </a:prstGeom>
          <a:noFill/>
        </p:spPr>
        <p:txBody>
          <a:bodyPr vert="horz" wrap="square" lIns="0" tIns="0" rIns="0" bIns="0" rtlCol="0" anchor="ctr"/>
          <a:lstStyle/>
          <a:p>
            <a:pPr marL="0" indent="0" algn="l">
              <a:lnSpc>
                <a:spcPts val="3040"/>
              </a:lnSpc>
              <a:buNone/>
            </a:pPr>
            <a:endParaRPr lang="en-US" sz="1875" dirty="0"/>
          </a:p>
        </p:txBody>
      </p:sp>
      <p:sp>
        <p:nvSpPr>
          <p:cNvPr id="19" name="Text 16"/>
          <p:cNvSpPr/>
          <p:nvPr>
            <p:custDataLst>
              <p:tags r:id="rId11"/>
            </p:custDataLst>
          </p:nvPr>
        </p:nvSpPr>
        <p:spPr>
          <a:xfrm>
            <a:off x="3667951" y="4042979"/>
            <a:ext cx="5406200" cy="247269"/>
          </a:xfrm>
          <a:prstGeom prst="rect">
            <a:avLst/>
          </a:prstGeom>
          <a:noFill/>
        </p:spPr>
        <p:txBody>
          <a:bodyPr vert="horz" wrap="square" lIns="0" tIns="0" rIns="0" bIns="0" rtlCol="0" anchor="ctr"/>
          <a:lstStyle/>
          <a:p>
            <a:pPr marL="0" indent="0" algn="l">
              <a:lnSpc>
                <a:spcPts val="1650"/>
              </a:lnSpc>
              <a:buNone/>
            </a:pPr>
            <a:endParaRPr lang="en-US" sz="3200" dirty="0"/>
          </a:p>
        </p:txBody>
      </p:sp>
      <p:sp>
        <p:nvSpPr>
          <p:cNvPr id="20" name="Text 17"/>
          <p:cNvSpPr/>
          <p:nvPr/>
        </p:nvSpPr>
        <p:spPr>
          <a:xfrm>
            <a:off x="3990975" y="3821906"/>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rcRect t="3571" b="3571"/>
          <a:stretch>
            <a:fillRect/>
          </a:stretch>
        </p:blipFill>
        <p:spPr>
          <a:xfrm>
            <a:off x="0" y="0"/>
            <a:ext cx="9144000" cy="809625"/>
          </a:xfrm>
          <a:prstGeom prst="rect">
            <a:avLst/>
          </a:prstGeom>
        </p:spPr>
      </p:pic>
      <p:sp>
        <p:nvSpPr>
          <p:cNvPr id="4" name="Text 1"/>
          <p:cNvSpPr/>
          <p:nvPr/>
        </p:nvSpPr>
        <p:spPr>
          <a:xfrm>
            <a:off x="571500" y="228600"/>
            <a:ext cx="8001000" cy="400050"/>
          </a:xfrm>
          <a:prstGeom prst="rect">
            <a:avLst/>
          </a:prstGeom>
          <a:noFill/>
        </p:spPr>
        <p:txBody>
          <a:bodyPr vert="horz" wrap="square" lIns="0" tIns="0" rIns="0" bIns="0" rtlCol="0" anchor="ctr"/>
          <a:lstStyle/>
          <a:p>
            <a:pPr marL="0" indent="0" algn="l">
              <a:lnSpc>
                <a:spcPts val="3150"/>
              </a:lnSpc>
              <a:buNone/>
            </a:pPr>
            <a:r>
              <a:rPr lang="zh-CN" alt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实验设定</a:t>
            </a:r>
            <a:endParaRPr lang="zh-CN" alt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7" name="Text 3"/>
          <p:cNvSpPr/>
          <p:nvPr/>
        </p:nvSpPr>
        <p:spPr>
          <a:xfrm>
            <a:off x="1019175" y="2828925"/>
            <a:ext cx="1449735" cy="723900"/>
          </a:xfrm>
          <a:prstGeom prst="rect">
            <a:avLst/>
          </a:prstGeom>
          <a:noFill/>
        </p:spPr>
        <p:txBody>
          <a:bodyPr vert="horz" wrap="square" lIns="0" tIns="0" rIns="0" bIns="0" rtlCol="0" anchor="ctr"/>
          <a:lstStyle/>
          <a:p>
            <a:pPr marL="0" indent="0">
              <a:lnSpc>
                <a:spcPts val="2700"/>
              </a:lnSpc>
              <a:buNone/>
            </a:pPr>
            <a:endParaRPr lang="en-US" sz="1650" dirty="0"/>
          </a:p>
        </p:txBody>
      </p:sp>
      <p:sp>
        <p:nvSpPr>
          <p:cNvPr id="8" name="Text 4"/>
          <p:cNvSpPr/>
          <p:nvPr/>
        </p:nvSpPr>
        <p:spPr>
          <a:xfrm>
            <a:off x="3573810" y="1609725"/>
            <a:ext cx="15621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9" name="Text 5"/>
          <p:cNvSpPr/>
          <p:nvPr/>
        </p:nvSpPr>
        <p:spPr>
          <a:xfrm>
            <a:off x="5593110" y="1466850"/>
            <a:ext cx="23050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0" name="Text 6"/>
          <p:cNvSpPr/>
          <p:nvPr/>
        </p:nvSpPr>
        <p:spPr>
          <a:xfrm>
            <a:off x="5593110" y="1828800"/>
            <a:ext cx="23050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1" name="Text 7"/>
          <p:cNvSpPr/>
          <p:nvPr/>
        </p:nvSpPr>
        <p:spPr>
          <a:xfrm>
            <a:off x="3573810" y="2333625"/>
            <a:ext cx="13716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2" name="Text 8"/>
          <p:cNvSpPr/>
          <p:nvPr/>
        </p:nvSpPr>
        <p:spPr>
          <a:xfrm>
            <a:off x="5402610" y="2190750"/>
            <a:ext cx="270510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3" name="Text 9"/>
          <p:cNvSpPr/>
          <p:nvPr/>
        </p:nvSpPr>
        <p:spPr>
          <a:xfrm>
            <a:off x="5402610" y="2552700"/>
            <a:ext cx="270510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4" name="Text 10"/>
          <p:cNvSpPr/>
          <p:nvPr/>
        </p:nvSpPr>
        <p:spPr>
          <a:xfrm>
            <a:off x="3573810" y="3267075"/>
            <a:ext cx="1371600" cy="32385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5" name="Text 11"/>
          <p:cNvSpPr/>
          <p:nvPr/>
        </p:nvSpPr>
        <p:spPr>
          <a:xfrm>
            <a:off x="5402610" y="2914650"/>
            <a:ext cx="3257550" cy="6667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6" name="Text 12"/>
          <p:cNvSpPr/>
          <p:nvPr/>
        </p:nvSpPr>
        <p:spPr>
          <a:xfrm>
            <a:off x="5402610" y="3695700"/>
            <a:ext cx="3257550"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7" name="Text 13"/>
          <p:cNvSpPr/>
          <p:nvPr/>
        </p:nvSpPr>
        <p:spPr>
          <a:xfrm>
            <a:off x="3573810" y="4181475"/>
            <a:ext cx="1525935" cy="609600"/>
          </a:xfrm>
          <a:prstGeom prst="rect">
            <a:avLst/>
          </a:prstGeom>
          <a:noFill/>
        </p:spPr>
        <p:txBody>
          <a:bodyPr vert="horz" wrap="square" lIns="0" tIns="0" rIns="0" bIns="0" rtlCol="0" anchor="ctr"/>
          <a:lstStyle/>
          <a:p>
            <a:pPr marL="0" indent="0">
              <a:lnSpc>
                <a:spcPts val="2250"/>
              </a:lnSpc>
              <a:buNone/>
            </a:pPr>
            <a:endParaRPr lang="en-US" sz="1500" dirty="0"/>
          </a:p>
        </p:txBody>
      </p:sp>
      <p:sp>
        <p:nvSpPr>
          <p:cNvPr id="18" name="Text 14"/>
          <p:cNvSpPr/>
          <p:nvPr/>
        </p:nvSpPr>
        <p:spPr>
          <a:xfrm>
            <a:off x="5556945" y="4076700"/>
            <a:ext cx="3167955" cy="45720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9" name="Text 15"/>
          <p:cNvSpPr/>
          <p:nvPr/>
        </p:nvSpPr>
        <p:spPr>
          <a:xfrm>
            <a:off x="5556945" y="4648200"/>
            <a:ext cx="3167955" cy="2476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20" name="文本框 19"/>
          <p:cNvSpPr txBox="1"/>
          <p:nvPr/>
        </p:nvSpPr>
        <p:spPr>
          <a:xfrm>
            <a:off x="355600" y="1367790"/>
            <a:ext cx="8049260" cy="3199130"/>
          </a:xfrm>
          <a:prstGeom prst="rect">
            <a:avLst/>
          </a:prstGeom>
          <a:noFill/>
        </p:spPr>
        <p:txBody>
          <a:bodyPr wrap="square" rtlCol="0">
            <a:noAutofit/>
          </a:bodyPr>
          <a:p>
            <a:r>
              <a:rPr lang="zh-CN" altLang="en-US" sz="2000"/>
              <a:t>为了评估</a:t>
            </a:r>
            <a:r>
              <a:rPr lang="en-US" altLang="zh-CN" sz="2000"/>
              <a:t>add-it</a:t>
            </a:r>
            <a:r>
              <a:rPr lang="zh-CN" altLang="en-US" sz="2000"/>
              <a:t>的性能，研究人员将其与两类基线进行</a:t>
            </a:r>
            <a:r>
              <a:rPr lang="zh-CN" altLang="en-US" sz="2000"/>
              <a:t>比较：</a:t>
            </a:r>
            <a:endParaRPr lang="zh-CN" altLang="en-US" sz="2000"/>
          </a:p>
          <a:p>
            <a:endParaRPr lang="zh-CN" altLang="en-US" sz="2000"/>
          </a:p>
          <a:p>
            <a:r>
              <a:rPr lang="zh-CN" altLang="en-US" sz="2000"/>
              <a:t>第一类是</a:t>
            </a:r>
            <a:r>
              <a:rPr lang="en-US" altLang="zh-CN" sz="2000"/>
              <a:t>Training-Free</a:t>
            </a:r>
            <a:r>
              <a:rPr lang="zh-CN" altLang="en-US" sz="2000"/>
              <a:t>方法，如Prompt-to-Prompt和SDEdit，这些方法利</a:t>
            </a:r>
            <a:endParaRPr lang="zh-CN" altLang="en-US" sz="2000"/>
          </a:p>
          <a:p>
            <a:r>
              <a:rPr lang="zh-CN" altLang="en-US" sz="2000"/>
              <a:t>用现有的文本生成-图像模型的能力；</a:t>
            </a:r>
            <a:endParaRPr lang="zh-CN" altLang="en-US" sz="2000"/>
          </a:p>
          <a:p>
            <a:endParaRPr lang="zh-CN" altLang="en-US" sz="2000"/>
          </a:p>
          <a:p>
            <a:r>
              <a:rPr lang="zh-CN" altLang="en-US" sz="2000"/>
              <a:t>第二类是专门训练用于图像编辑和对象添加</a:t>
            </a:r>
            <a:endParaRPr lang="zh-CN" altLang="en-US" sz="2000"/>
          </a:p>
          <a:p>
            <a:r>
              <a:rPr lang="zh-CN" altLang="en-US" sz="2000"/>
              <a:t>的模型，例如Instruct Pix 2 Pix、MagicBrush和EraseDraw。</a:t>
            </a:r>
            <a:endParaRPr lang="zh-CN"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t="3571" b="3571"/>
          <a:stretch>
            <a:fillRect/>
          </a:stretch>
        </p:blipFill>
        <p:spPr>
          <a:xfrm>
            <a:off x="0" y="0"/>
            <a:ext cx="9144000" cy="1238250"/>
          </a:xfrm>
          <a:prstGeom prst="rect">
            <a:avLst/>
          </a:prstGeom>
        </p:spPr>
      </p:pic>
      <p:sp>
        <p:nvSpPr>
          <p:cNvPr id="4" name="Text 1"/>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zh-CN" alt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评估</a:t>
            </a:r>
            <a:r>
              <a:rPr lang="zh-CN" alt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指标</a:t>
            </a:r>
            <a:endParaRPr lang="zh-CN" alt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15" name="文本框 14"/>
          <p:cNvSpPr txBox="1"/>
          <p:nvPr/>
        </p:nvSpPr>
        <p:spPr>
          <a:xfrm>
            <a:off x="352425" y="1397000"/>
            <a:ext cx="3302000" cy="2091690"/>
          </a:xfrm>
          <a:prstGeom prst="rect">
            <a:avLst/>
          </a:prstGeom>
          <a:noFill/>
        </p:spPr>
        <p:txBody>
          <a:bodyPr wrap="square" rtlCol="0">
            <a:noAutofit/>
          </a:bodyPr>
          <a:p>
            <a:r>
              <a:rPr lang="zh-CN" altLang="en-US"/>
              <a:t>实验使用了</a:t>
            </a:r>
            <a:r>
              <a:rPr lang="zh-CN" altLang="en-US"/>
              <a:t>以下评估指标来评估</a:t>
            </a:r>
            <a:r>
              <a:rPr lang="zh-CN" altLang="en-US"/>
              <a:t>结果：</a:t>
            </a:r>
            <a:endParaRPr lang="zh-CN" altLang="en-US"/>
          </a:p>
          <a:p>
            <a:r>
              <a:rPr lang="en-US" altLang="zh-CN" b="1"/>
              <a:t>CLIP</a:t>
            </a:r>
            <a:r>
              <a:rPr lang="zh-CN" altLang="en-US" b="1"/>
              <a:t>：</a:t>
            </a:r>
            <a:r>
              <a:rPr lang="zh-CN" altLang="en-US"/>
              <a:t>衡量图像与文本的相似性和一致性</a:t>
            </a:r>
            <a:endParaRPr lang="zh-CN" altLang="en-US"/>
          </a:p>
          <a:p>
            <a:r>
              <a:rPr lang="zh-CN" altLang="en-US" b="1"/>
              <a:t>Inclusion</a:t>
            </a:r>
            <a:r>
              <a:rPr lang="zh-CN" altLang="en-US"/>
              <a:t> ：衡量对象是否被添加到图像中。</a:t>
            </a:r>
            <a:endParaRPr lang="zh-CN" altLang="en-US"/>
          </a:p>
          <a:p>
            <a:r>
              <a:rPr lang="zh-CN" altLang="en-US" b="1"/>
              <a:t>Affordance</a:t>
            </a:r>
            <a:r>
              <a:rPr lang="zh-CN" altLang="en-US"/>
              <a:t> ：评估对象是否被添加到合理的位置。</a:t>
            </a:r>
            <a:endParaRPr lang="zh-CN" altLang="en-US"/>
          </a:p>
          <a:p>
            <a:endParaRPr lang="zh-CN" altLang="en-US"/>
          </a:p>
        </p:txBody>
      </p:sp>
      <p:sp>
        <p:nvSpPr>
          <p:cNvPr id="17" name="文本框 16"/>
          <p:cNvSpPr txBox="1"/>
          <p:nvPr/>
        </p:nvSpPr>
        <p:spPr>
          <a:xfrm>
            <a:off x="3975735" y="1772285"/>
            <a:ext cx="4399915" cy="1198880"/>
          </a:xfrm>
          <a:prstGeom prst="rect">
            <a:avLst/>
          </a:prstGeom>
          <a:noFill/>
        </p:spPr>
        <p:txBody>
          <a:bodyPr wrap="square" rtlCol="0">
            <a:spAutoFit/>
          </a:bodyPr>
          <a:p>
            <a:endParaRPr lang="zh-CN" altLang="en-US"/>
          </a:p>
          <a:p>
            <a:r>
              <a:rPr lang="zh-CN" altLang="en-US"/>
              <a:t>实验同样邀请了人类评估者参与。初步结果显示，</a:t>
            </a:r>
            <a:r>
              <a:rPr lang="en-US" altLang="zh-CN"/>
              <a:t>add-it</a:t>
            </a:r>
            <a:r>
              <a:rPr lang="zh-CN" altLang="en-US"/>
              <a:t>在百分之八十的案例优于基</a:t>
            </a:r>
            <a:r>
              <a:rPr lang="zh-CN" altLang="en-US"/>
              <a:t>线。</a:t>
            </a:r>
            <a:endParaRPr lang="zh-CN" altLang="en-US"/>
          </a:p>
        </p:txBody>
      </p:sp>
      <p:sp>
        <p:nvSpPr>
          <p:cNvPr id="6" name="文本框 5"/>
          <p:cNvSpPr txBox="1"/>
          <p:nvPr/>
        </p:nvSpPr>
        <p:spPr>
          <a:xfrm>
            <a:off x="352425" y="3722370"/>
            <a:ext cx="6215380" cy="1260475"/>
          </a:xfrm>
          <a:prstGeom prst="rect">
            <a:avLst/>
          </a:prstGeom>
          <a:noFill/>
        </p:spPr>
        <p:txBody>
          <a:bodyPr wrap="square" rtlCol="0">
            <a:noAutofit/>
          </a:bodyPr>
          <a:p>
            <a:r>
              <a:rPr lang="zh-CN" altLang="en-US"/>
              <a:t>实验在两个基准上对</a:t>
            </a:r>
            <a:r>
              <a:rPr lang="en-US" altLang="zh-CN"/>
              <a:t>Add-it</a:t>
            </a:r>
            <a:r>
              <a:rPr lang="zh-CN" altLang="en-US"/>
              <a:t>进行了</a:t>
            </a:r>
            <a:r>
              <a:rPr lang="zh-CN" altLang="en-US"/>
              <a:t>评估：</a:t>
            </a:r>
            <a:endParaRPr lang="zh-CN" altLang="en-US"/>
          </a:p>
          <a:p>
            <a:r>
              <a:rPr lang="en-US" altLang="zh-CN" b="1"/>
              <a:t>EmuEdit</a:t>
            </a:r>
            <a:r>
              <a:rPr lang="zh-CN" altLang="en-US" b="1"/>
              <a:t>基准</a:t>
            </a:r>
            <a:r>
              <a:rPr lang="zh-CN" altLang="en-US"/>
              <a:t>：评估真实图像的</a:t>
            </a:r>
            <a:r>
              <a:rPr lang="zh-CN" altLang="en-US"/>
              <a:t>编辑效果</a:t>
            </a:r>
            <a:endParaRPr lang="zh-CN" altLang="en-US"/>
          </a:p>
          <a:p>
            <a:r>
              <a:rPr lang="en-US" altLang="zh-CN" b="1"/>
              <a:t>Additing</a:t>
            </a:r>
            <a:r>
              <a:rPr lang="zh-CN" altLang="en-US" b="1"/>
              <a:t>基准</a:t>
            </a:r>
            <a:r>
              <a:rPr lang="zh-CN" altLang="en-US"/>
              <a:t>：评估生成图像的对象添加</a:t>
            </a:r>
            <a:r>
              <a:rPr lang="zh-CN" altLang="en-US"/>
              <a:t>效果</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t="3571" b="3571"/>
          <a:stretch>
            <a:fillRect/>
          </a:stretch>
        </p:blipFill>
        <p:spPr>
          <a:xfrm>
            <a:off x="0" y="0"/>
            <a:ext cx="9144000" cy="1238250"/>
          </a:xfrm>
          <a:prstGeom prst="rect">
            <a:avLst/>
          </a:prstGeom>
        </p:spPr>
      </p:pic>
      <p:sp>
        <p:nvSpPr>
          <p:cNvPr id="4" name="Text 1"/>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实验结果</a:t>
            </a:r>
            <a:endParaRPr lang="en-US" sz="2250" dirty="0"/>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pic>
        <p:nvPicPr>
          <p:cNvPr id="6" name="图片 5" descr="J1@}]1K1X1BKULUQN0U@66H"/>
          <p:cNvPicPr>
            <a:picLocks noChangeAspect="1"/>
          </p:cNvPicPr>
          <p:nvPr/>
        </p:nvPicPr>
        <p:blipFill>
          <a:blip r:embed="rId2"/>
          <a:stretch>
            <a:fillRect/>
          </a:stretch>
        </p:blipFill>
        <p:spPr>
          <a:xfrm>
            <a:off x="4007485" y="1238250"/>
            <a:ext cx="5136515" cy="3315335"/>
          </a:xfrm>
          <a:prstGeom prst="rect">
            <a:avLst/>
          </a:prstGeom>
        </p:spPr>
      </p:pic>
      <p:sp>
        <p:nvSpPr>
          <p:cNvPr id="7" name="文本框 6"/>
          <p:cNvSpPr txBox="1"/>
          <p:nvPr/>
        </p:nvSpPr>
        <p:spPr>
          <a:xfrm>
            <a:off x="137795" y="1353185"/>
            <a:ext cx="3846195" cy="3790315"/>
          </a:xfrm>
          <a:prstGeom prst="rect">
            <a:avLst/>
          </a:prstGeom>
          <a:noFill/>
        </p:spPr>
        <p:txBody>
          <a:bodyPr wrap="square" rtlCol="0">
            <a:noAutofit/>
          </a:bodyPr>
          <a:p>
            <a:r>
              <a:rPr lang="en-US" altLang="zh-CN" sz="2400" b="1"/>
              <a:t>EmuEdit</a:t>
            </a:r>
            <a:r>
              <a:rPr lang="zh-CN" altLang="en-US" sz="2400" b="1"/>
              <a:t>基准：</a:t>
            </a:r>
            <a:endParaRPr lang="zh-CN" altLang="en-US" sz="2400" b="1"/>
          </a:p>
          <a:p>
            <a:r>
              <a:rPr lang="en-US" altLang="zh-CN" sz="2400"/>
              <a:t>Add-it</a:t>
            </a:r>
            <a:r>
              <a:rPr lang="zh-CN" altLang="en-US" sz="2400"/>
              <a:t>在</a:t>
            </a:r>
            <a:r>
              <a:rPr lang="en-US" altLang="zh-CN" sz="2400"/>
              <a:t>Clip Inclusion Affordance</a:t>
            </a:r>
            <a:r>
              <a:rPr lang="zh-CN" altLang="en-US" sz="2400"/>
              <a:t>指标上均优于现有方法</a:t>
            </a:r>
            <a:endParaRPr lang="zh-CN" altLang="en-US" sz="2400"/>
          </a:p>
          <a:p>
            <a:r>
              <a:rPr lang="en-US" altLang="zh-CN" sz="2400" b="1"/>
              <a:t>Additing</a:t>
            </a:r>
            <a:r>
              <a:rPr lang="zh-CN" altLang="en-US" sz="2400" b="1"/>
              <a:t>基准：</a:t>
            </a:r>
            <a:r>
              <a:rPr lang="en-US" altLang="zh-CN" sz="2400"/>
              <a:t>addit</a:t>
            </a:r>
            <a:r>
              <a:rPr lang="zh-CN" altLang="en-US" sz="2400"/>
              <a:t>在</a:t>
            </a:r>
            <a:r>
              <a:rPr lang="en-US" altLang="zh-CN" sz="2400"/>
              <a:t>Clip</a:t>
            </a:r>
            <a:r>
              <a:rPr lang="zh-CN" altLang="en-US" sz="2400"/>
              <a:t>和</a:t>
            </a:r>
            <a:r>
              <a:rPr lang="en-US" altLang="zh-CN" sz="2400"/>
              <a:t>Inclusion</a:t>
            </a:r>
            <a:r>
              <a:rPr lang="zh-CN" altLang="en-US" sz="2400"/>
              <a:t>表现优异，并在</a:t>
            </a:r>
            <a:r>
              <a:rPr lang="en-US" altLang="zh-CN" sz="2400"/>
              <a:t>Affordance</a:t>
            </a:r>
            <a:r>
              <a:rPr lang="zh-CN" altLang="en-US" sz="2400"/>
              <a:t>指标上超越了所有现有方法</a:t>
            </a:r>
            <a:endParaRPr lang="zh-CN"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结论</a:t>
            </a:r>
            <a:endParaRPr lang="en-US" sz="3750" dirty="0"/>
          </a:p>
        </p:txBody>
      </p:sp>
      <p:sp>
        <p:nvSpPr>
          <p:cNvPr id="4" name="Shape 1"/>
          <p:cNvSpPr/>
          <p:nvPr/>
        </p:nvSpPr>
        <p:spPr>
          <a:xfrm>
            <a:off x="571500" y="4157662"/>
            <a:ext cx="4762500" cy="14288"/>
          </a:xfrm>
          <a:prstGeom prst="rect">
            <a:avLst/>
          </a:prstGeom>
          <a:solidFill>
            <a:srgbClr val="000000">
              <a:alpha val="30000"/>
            </a:srgbClr>
          </a:solidFill>
        </p:spPr>
      </p:sp>
      <p:sp>
        <p:nvSpPr>
          <p:cNvPr id="5" name="Text 2"/>
          <p:cNvSpPr/>
          <p:nvPr/>
        </p:nvSpPr>
        <p:spPr>
          <a:xfrm>
            <a:off x="571500" y="4362450"/>
            <a:ext cx="4762500"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p:spPr>
        <p:txBody>
          <a:bodyPr vert="horz" wrap="square" lIns="0" tIns="0" rIns="0" bIns="0" rtlCol="0" anchor="ctr"/>
          <a:lstStyle/>
          <a:p>
            <a:pPr marL="0" indent="0" algn="ctr">
              <a:lnSpc>
                <a:spcPts val="22500"/>
              </a:lnSpc>
              <a:buNone/>
            </a:pPr>
            <a:r>
              <a:rPr lang="en-US" sz="22500" b="1" dirty="0">
                <a:solidFill>
                  <a:srgbClr val="4784CB">
                    <a:alpha val="30000"/>
                  </a:srgbClr>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2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t="3571" b="3571"/>
          <a:stretch>
            <a:fillRect/>
          </a:stretch>
        </p:blipFill>
        <p:spPr>
          <a:xfrm>
            <a:off x="0" y="-74930"/>
            <a:ext cx="9144000" cy="1238250"/>
          </a:xfrm>
          <a:prstGeom prst="rect">
            <a:avLst/>
          </a:prstGeom>
        </p:spPr>
      </p:pic>
      <p:sp>
        <p:nvSpPr>
          <p:cNvPr id="4" name="Text 1"/>
          <p:cNvSpPr/>
          <p:nvPr/>
        </p:nvSpPr>
        <p:spPr>
          <a:xfrm>
            <a:off x="571500" y="552450"/>
            <a:ext cx="8001000" cy="400050"/>
          </a:xfrm>
          <a:prstGeom prst="rect">
            <a:avLst/>
          </a:prstGeom>
          <a:noFill/>
        </p:spPr>
        <p:txBody>
          <a:bodyPr vert="horz" wrap="square" lIns="0" tIns="0" rIns="0" bIns="0" rtlCol="0" anchor="ctr"/>
          <a:lstStyle/>
          <a:p>
            <a:pPr marL="0" indent="0" algn="l">
              <a:lnSpc>
                <a:spcPts val="3150"/>
              </a:lnSpc>
              <a:buNone/>
            </a:pPr>
            <a:r>
              <a:rPr lang="zh-CN" alt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结论</a:t>
            </a:r>
            <a:endParaRPr lang="zh-CN" alt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5" name="文本框 14"/>
          <p:cNvSpPr txBox="1"/>
          <p:nvPr/>
        </p:nvSpPr>
        <p:spPr>
          <a:xfrm>
            <a:off x="352425" y="1397000"/>
            <a:ext cx="3302000" cy="2091690"/>
          </a:xfrm>
          <a:prstGeom prst="rect">
            <a:avLst/>
          </a:prstGeom>
          <a:noFill/>
        </p:spPr>
        <p:txBody>
          <a:bodyPr wrap="square" rtlCol="0">
            <a:noAutofit/>
          </a:bodyPr>
          <a:p>
            <a:endParaRPr lang="zh-CN" altLang="en-US"/>
          </a:p>
        </p:txBody>
      </p:sp>
      <p:sp>
        <p:nvSpPr>
          <p:cNvPr id="17" name="文本框 16"/>
          <p:cNvSpPr txBox="1"/>
          <p:nvPr/>
        </p:nvSpPr>
        <p:spPr>
          <a:xfrm>
            <a:off x="352425" y="1379855"/>
            <a:ext cx="8023225" cy="3375660"/>
          </a:xfrm>
          <a:prstGeom prst="rect">
            <a:avLst/>
          </a:prstGeom>
          <a:noFill/>
        </p:spPr>
        <p:txBody>
          <a:bodyPr wrap="square" rtlCol="0">
            <a:noAutofit/>
          </a:bodyPr>
          <a:p>
            <a:r>
              <a:rPr lang="zh-CN" altLang="en-US"/>
              <a:t>作者提出了Add-it——一种无需训练即可通过简单文本提示实现图像物体添加的创新方法。该方法创新性地引入了加权扩展注意力机制与主体引导潜在混合技术。</a:t>
            </a:r>
            <a:endParaRPr lang="zh-CN" altLang="en-US"/>
          </a:p>
          <a:p>
            <a:endParaRPr lang="zh-CN" altLang="en-US"/>
          </a:p>
          <a:p>
            <a:r>
              <a:rPr lang="zh-CN" altLang="en-US"/>
              <a:t>针对现有评估体系的不足，</a:t>
            </a:r>
            <a:r>
              <a:rPr lang="zh-CN" altLang="en-US"/>
              <a:t>作者构建了"Additing功能适配性基准"，该基准能够精确量化不同图像添加方法中物体布局的合理性。实验表明，Add-it在各项指标上均显著优于现有方法，同时在真实图像与生成图像测试集上均达到业界最优水平。</a:t>
            </a:r>
            <a:endParaRPr lang="zh-CN" altLang="en-US"/>
          </a:p>
          <a:p>
            <a:endParaRPr lang="zh-CN" altLang="en-US"/>
          </a:p>
          <a:p>
            <a:r>
              <a:rPr lang="zh-CN" altLang="en-US"/>
              <a:t>本研究证实，利用预训练扩散模型中的先验知识是解决图像添加等复杂任务的有效途径。。</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t="3571" b="3571"/>
          <a:stretch>
            <a:fillRect/>
          </a:stretch>
        </p:blipFill>
        <p:spPr>
          <a:xfrm>
            <a:off x="0" y="0"/>
            <a:ext cx="9144000" cy="1238250"/>
          </a:xfrm>
          <a:prstGeom prst="rect">
            <a:avLst/>
          </a:prstGeom>
        </p:spPr>
      </p:pic>
      <p:sp>
        <p:nvSpPr>
          <p:cNvPr id="4" name="Text 1"/>
          <p:cNvSpPr/>
          <p:nvPr/>
        </p:nvSpPr>
        <p:spPr>
          <a:xfrm>
            <a:off x="104140" y="177165"/>
            <a:ext cx="8463915" cy="4277995"/>
          </a:xfrm>
          <a:prstGeom prst="rect">
            <a:avLst/>
          </a:prstGeom>
          <a:noFill/>
        </p:spPr>
        <p:txBody>
          <a:bodyPr vert="horz" wrap="square" lIns="0" tIns="0" rIns="0" bIns="0" rtlCol="0" anchor="ctr"/>
          <a:lstStyle/>
          <a:p>
            <a:pPr marL="0" indent="0" algn="l">
              <a:lnSpc>
                <a:spcPts val="3150"/>
              </a:lnSpc>
              <a:buNone/>
            </a:pPr>
            <a:endParaRPr lang="zh-CN" altLang="en-US" sz="3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gn="l">
              <a:lnSpc>
                <a:spcPts val="3150"/>
              </a:lnSpc>
              <a:buNone/>
            </a:pP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未来工作展开方向</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gn="l">
              <a:lnSpc>
                <a:spcPts val="3150"/>
              </a:lnSpc>
              <a:buNone/>
            </a:pPr>
            <a:endParaRPr lang="zh-CN" altLang="en-US" sz="225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gn="l">
              <a:lnSpc>
                <a:spcPts val="3150"/>
              </a:lnSpc>
              <a:buNone/>
            </a:pPr>
            <a:endParaRPr lang="zh-CN" altLang="en-US" sz="225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l">
              <a:lnSpc>
                <a:spcPts val="3150"/>
              </a:lnSpc>
              <a:buNone/>
            </a:pPr>
            <a:r>
              <a:rPr lang="en-US" altLang="zh-CN" sz="225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250" dirty="0">
                <a:latin typeface="微软雅黑" panose="020B0503020204020204" pitchFamily="34" charset="-122"/>
                <a:ea typeface="微软雅黑" panose="020B0503020204020204" pitchFamily="34" charset="-122"/>
                <a:cs typeface="微软雅黑" panose="020B0503020204020204" pitchFamily="34" charset="-122"/>
                <a:sym typeface="+mn-ea"/>
              </a:rPr>
              <a:t>提高</a:t>
            </a:r>
            <a:r>
              <a:rPr lang="en-US" altLang="zh-CN" sz="2250" dirty="0">
                <a:latin typeface="微软雅黑" panose="020B0503020204020204" pitchFamily="34" charset="-122"/>
                <a:ea typeface="微软雅黑" panose="020B0503020204020204" pitchFamily="34" charset="-122"/>
                <a:cs typeface="微软雅黑" panose="020B0503020204020204" pitchFamily="34" charset="-122"/>
                <a:sym typeface="+mn-ea"/>
              </a:rPr>
              <a:t>add-it</a:t>
            </a:r>
            <a:r>
              <a:rPr lang="zh-CN" altLang="en-US" sz="2250" dirty="0">
                <a:latin typeface="微软雅黑" panose="020B0503020204020204" pitchFamily="34" charset="-122"/>
                <a:ea typeface="微软雅黑" panose="020B0503020204020204" pitchFamily="34" charset="-122"/>
                <a:cs typeface="微软雅黑" panose="020B0503020204020204" pitchFamily="34" charset="-122"/>
                <a:sym typeface="+mn-ea"/>
              </a:rPr>
              <a:t>在真实图像的编辑效果。</a:t>
            </a:r>
            <a:r>
              <a:rPr lang="en-US" altLang="zh-CN" sz="2250" dirty="0">
                <a:latin typeface="微软雅黑" panose="020B0503020204020204" pitchFamily="34" charset="-122"/>
                <a:ea typeface="微软雅黑" panose="020B0503020204020204" pitchFamily="34" charset="-122"/>
                <a:cs typeface="微软雅黑" panose="020B0503020204020204" pitchFamily="34" charset="-122"/>
                <a:sym typeface="+mn-ea"/>
              </a:rPr>
              <a:t> Add-it</a:t>
            </a:r>
            <a:r>
              <a:rPr lang="zh-CN" altLang="en-US" sz="2250" dirty="0">
                <a:latin typeface="微软雅黑" panose="020B0503020204020204" pitchFamily="34" charset="-122"/>
                <a:ea typeface="微软雅黑" panose="020B0503020204020204" pitchFamily="34" charset="-122"/>
                <a:cs typeface="微软雅黑" panose="020B0503020204020204" pitchFamily="34" charset="-122"/>
                <a:sym typeface="+mn-ea"/>
              </a:rPr>
              <a:t>对于现实图像的处理，受限于</a:t>
            </a:r>
            <a:r>
              <a:rPr lang="en-US" altLang="zh-CN" sz="2250" dirty="0">
                <a:latin typeface="微软雅黑" panose="020B0503020204020204" pitchFamily="34" charset="-122"/>
                <a:ea typeface="微软雅黑" panose="020B0503020204020204" pitchFamily="34" charset="-122"/>
                <a:cs typeface="微软雅黑" panose="020B0503020204020204" pitchFamily="34" charset="-122"/>
                <a:sym typeface="+mn-ea"/>
              </a:rPr>
              <a:t>FLUX</a:t>
            </a:r>
            <a:r>
              <a:rPr lang="zh-CN" altLang="en-US" sz="2250" dirty="0">
                <a:latin typeface="微软雅黑" panose="020B0503020204020204" pitchFamily="34" charset="-122"/>
                <a:ea typeface="微软雅黑" panose="020B0503020204020204" pitchFamily="34" charset="-122"/>
                <a:cs typeface="微软雅黑" panose="020B0503020204020204" pitchFamily="34" charset="-122"/>
                <a:sym typeface="+mn-ea"/>
              </a:rPr>
              <a:t>反演算法的限制，仍有提升空间。</a:t>
            </a:r>
            <a:endParaRPr lang="zh-CN" altLang="en-US" sz="225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gn="l">
              <a:lnSpc>
                <a:spcPts val="3150"/>
              </a:lnSpc>
              <a:buNone/>
            </a:pPr>
            <a:endParaRPr lang="zh-CN" altLang="en-US" sz="225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l">
              <a:lnSpc>
                <a:spcPts val="3150"/>
              </a:lnSpc>
              <a:buNone/>
            </a:pPr>
            <a:r>
              <a:rPr lang="en-US" altLang="zh-CN" sz="225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250" dirty="0">
                <a:latin typeface="微软雅黑" panose="020B0503020204020204" pitchFamily="34" charset="-122"/>
                <a:ea typeface="微软雅黑" panose="020B0503020204020204" pitchFamily="34" charset="-122"/>
                <a:cs typeface="微软雅黑" panose="020B0503020204020204" pitchFamily="34" charset="-122"/>
                <a:sym typeface="+mn-ea"/>
              </a:rPr>
              <a:t>减少预训练模型的偏见问题。预训练模型的数据可能包含偏见。</a:t>
            </a:r>
            <a:endParaRPr lang="zh-CN" altLang="en-US" sz="225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gn="l">
              <a:lnSpc>
                <a:spcPts val="3150"/>
              </a:lnSpc>
              <a:buNone/>
            </a:pPr>
            <a:endParaRPr lang="zh-CN" altLang="en-US" sz="225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l">
              <a:lnSpc>
                <a:spcPts val="3150"/>
              </a:lnSpc>
              <a:buNone/>
            </a:pPr>
            <a:r>
              <a:rPr lang="en-US" altLang="zh-CN" sz="225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250" dirty="0">
                <a:latin typeface="微软雅黑" panose="020B0503020204020204" pitchFamily="34" charset="-122"/>
                <a:ea typeface="微软雅黑" panose="020B0503020204020204" pitchFamily="34" charset="-122"/>
                <a:cs typeface="微软雅黑" panose="020B0503020204020204" pitchFamily="34" charset="-122"/>
                <a:sym typeface="+mn-ea"/>
              </a:rPr>
              <a:t>拓展应用方向。</a:t>
            </a:r>
            <a:endParaRPr lang="zh-CN" altLang="en-US" sz="225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l">
              <a:lnSpc>
                <a:spcPts val="3150"/>
              </a:lnSpc>
              <a:buNone/>
            </a:pPr>
            <a:endParaRPr lang="zh-CN" altLang="en-US" sz="22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6" name="文本框 5"/>
          <p:cNvSpPr txBox="1"/>
          <p:nvPr/>
        </p:nvSpPr>
        <p:spPr>
          <a:xfrm>
            <a:off x="746125" y="3647440"/>
            <a:ext cx="6215380" cy="1260475"/>
          </a:xfrm>
          <a:prstGeom prst="rect">
            <a:avLst/>
          </a:prstGeom>
          <a:noFill/>
        </p:spPr>
        <p:txBody>
          <a:bodyPr wrap="square" rtlCol="0">
            <a:noAutofit/>
          </a:bodyPr>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2014538"/>
            <a:ext cx="8001000"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THANKS</a:t>
            </a:r>
            <a:endParaRPr lang="en-US" sz="3750" dirty="0"/>
          </a:p>
        </p:txBody>
      </p:sp>
      <p:sp>
        <p:nvSpPr>
          <p:cNvPr id="4" name="Shape 1"/>
          <p:cNvSpPr/>
          <p:nvPr/>
        </p:nvSpPr>
        <p:spPr>
          <a:xfrm>
            <a:off x="571500" y="3014663"/>
            <a:ext cx="604838" cy="114300"/>
          </a:xfrm>
          <a:prstGeom prst="rect">
            <a:avLst/>
          </a:prstGeom>
          <a:solidFill>
            <a:srgbClr val="000000"/>
          </a:solidFill>
        </p:spPr>
      </p:sp>
      <p:sp>
        <p:nvSpPr>
          <p:cNvPr id="5" name="Text 2"/>
          <p:cNvSpPr/>
          <p:nvPr/>
        </p:nvSpPr>
        <p:spPr>
          <a:xfrm>
            <a:off x="571500" y="3462337"/>
            <a:ext cx="8001000" cy="190500"/>
          </a:xfrm>
          <a:prstGeom prst="rect">
            <a:avLst/>
          </a:prstGeom>
          <a:noFill/>
        </p:spPr>
        <p:txBody>
          <a:bodyPr vert="horz" wrap="square" lIns="0" tIns="0" rIns="0" bIns="0" rtlCol="0" anchor="ctr"/>
          <a:lstStyle/>
          <a:p>
            <a:pPr marL="0" indent="0" algn="l">
              <a:lnSpc>
                <a:spcPts val="1500"/>
              </a:lnSpc>
              <a:buNone/>
            </a:pPr>
            <a:endParaRPr lang="en-US" sz="1200" dirty="0"/>
          </a:p>
        </p:txBody>
      </p:sp>
    </p:spTree>
  </p:cSld>
  <p:clrMapOvr>
    <a:masterClrMapping/>
  </p:clrMapOvr>
</p:sld>
</file>

<file path=ppt/tags/tag1.xml><?xml version="1.0" encoding="utf-8"?>
<p:tagLst xmlns:p="http://schemas.openxmlformats.org/presentationml/2006/main">
  <p:tag name="KSO_WM_DIAGRAM_VIRTUALLY_FRAME" val="{&quot;height&quot;:374.2,&quot;left&quot;:242,&quot;top&quot;:10.862519685039365,&quot;width&quot;:472.50007874015745}"/>
</p:tagLst>
</file>

<file path=ppt/tags/tag2.xml><?xml version="1.0" encoding="utf-8"?>
<p:tagLst xmlns:p="http://schemas.openxmlformats.org/presentationml/2006/main">
  <p:tag name="KSO_WM_DIAGRAM_VIRTUALLY_FRAME" val="{&quot;height&quot;:374.2,&quot;left&quot;:242,&quot;top&quot;:10.862519685039365,&quot;width&quot;:472.50007874015745}"/>
</p:tagLst>
</file>

<file path=ppt/tags/tag3.xml><?xml version="1.0" encoding="utf-8"?>
<p:tagLst xmlns:p="http://schemas.openxmlformats.org/presentationml/2006/main">
  <p:tag name="KSO_WM_DIAGRAM_VIRTUALLY_FRAME" val="{&quot;height&quot;:374.2,&quot;left&quot;:242,&quot;top&quot;:10.862519685039365,&quot;width&quot;:472.50007874015745}"/>
</p:tagLst>
</file>

<file path=ppt/tags/tag4.xml><?xml version="1.0" encoding="utf-8"?>
<p:tagLst xmlns:p="http://schemas.openxmlformats.org/presentationml/2006/main">
  <p:tag name="KSO_WM_DIAGRAM_VIRTUALLY_FRAME" val="{&quot;height&quot;:374.2,&quot;left&quot;:242,&quot;top&quot;:10.862519685039365,&quot;width&quot;:472.50007874015745}"/>
</p:tagLst>
</file>

<file path=ppt/tags/tag5.xml><?xml version="1.0" encoding="utf-8"?>
<p:tagLst xmlns:p="http://schemas.openxmlformats.org/presentationml/2006/main">
  <p:tag name="KSO_WM_DIAGRAM_VIRTUALLY_FRAME" val="{&quot;height&quot;:374.2,&quot;left&quot;:242,&quot;top&quot;:10.862519685039365,&quot;width&quot;:472.50007874015745}"/>
</p:tagLst>
</file>

<file path=ppt/tags/tag6.xml><?xml version="1.0" encoding="utf-8"?>
<p:tagLst xmlns:p="http://schemas.openxmlformats.org/presentationml/2006/main">
  <p:tag name="KSO_WM_DIAGRAM_VIRTUALLY_FRAME" val="{&quot;height&quot;:374.2,&quot;left&quot;:242,&quot;top&quot;:10.862519685039365,&quot;width&quot;:472.50007874015745}"/>
</p:tagLst>
</file>

<file path=ppt/tags/tag7.xml><?xml version="1.0" encoding="utf-8"?>
<p:tagLst xmlns:p="http://schemas.openxmlformats.org/presentationml/2006/main">
  <p:tag name="KSO_WM_DIAGRAM_VIRTUALLY_FRAME" val="{&quot;height&quot;:374.2,&quot;left&quot;:242,&quot;top&quot;:10.862519685039365,&quot;width&quot;:472.50007874015745}"/>
</p:tagLst>
</file>

<file path=ppt/tags/tag8.xml><?xml version="1.0" encoding="utf-8"?>
<p:tagLst xmlns:p="http://schemas.openxmlformats.org/presentationml/2006/main">
  <p:tag name="KSO_WM_DIAGRAM_VIRTUALLY_FRAME" val="{&quot;height&quot;:374.2,&quot;left&quot;:242,&quot;top&quot;:10.862519685039365,&quot;width&quot;:472.50007874015745}"/>
</p:tagLst>
</file>

<file path=ppt/tags/tag9.xml><?xml version="1.0" encoding="utf-8"?>
<p:tagLst xmlns:p="http://schemas.openxmlformats.org/presentationml/2006/main">
  <p:tag name="KSO_WM_DIAGRAM_VIRTUALLY_FRAME" val="{&quot;height&quot;:374.2,&quot;left&quot;:242,&quot;top&quot;:10.862519685039365,&quot;width&quot;:472.50007874015745}"/>
</p:tagLst>
</file>

<file path=ppt/tags/tag10.xml><?xml version="1.0" encoding="utf-8"?>
<p:tagLst xmlns:p="http://schemas.openxmlformats.org/presentationml/2006/main">
  <p:tag name="KSO_WM_DIAGRAM_VIRTUALLY_FRAME" val="{&quot;height&quot;:374.2,&quot;left&quot;:242,&quot;top&quot;:10.862519685039365,&quot;width&quot;:472.50007874015745}"/>
</p:tagLst>
</file>

<file path=ppt/tags/tag11.xml><?xml version="1.0" encoding="utf-8"?>
<p:tagLst xmlns:p="http://schemas.openxmlformats.org/presentationml/2006/main">
  <p:tag name="KSO_WM_DIAGRAM_VIRTUALLY_FRAME" val="{&quot;height&quot;:158.10604770744604,&quot;left&quot;:45,&quot;top&quot;:105,&quot;width&quot;:327.79606024548707}"/>
</p:tagLst>
</file>

<file path=ppt/tags/tag12.xml><?xml version="1.0" encoding="utf-8"?>
<p:tagLst xmlns:p="http://schemas.openxmlformats.org/presentationml/2006/main">
  <p:tag name="KSO_WM_DIAGRAM_VIRTUALLY_FRAME" val="{&quot;height&quot;:158.10604770744604,&quot;left&quot;:45,&quot;top&quot;:105,&quot;width&quot;:327.79606024548707}"/>
</p:tagLst>
</file>

<file path=ppt/tags/tag13.xml><?xml version="1.0" encoding="utf-8"?>
<p:tagLst xmlns:p="http://schemas.openxmlformats.org/presentationml/2006/main">
  <p:tag name="KSO_WM_DIAGRAM_VIRTUALLY_FRAME" val="{&quot;height&quot;:158.10604770744604,&quot;left&quot;:45,&quot;top&quot;:105,&quot;width&quot;:327.79606024548707}"/>
</p:tagLst>
</file>

<file path=ppt/tags/tag14.xml><?xml version="1.0" encoding="utf-8"?>
<p:tagLst xmlns:p="http://schemas.openxmlformats.org/presentationml/2006/main">
  <p:tag name="KSO_WM_DIAGRAM_VIRTUALLY_FRAME" val="{&quot;height&quot;:158.10604770744604,&quot;left&quot;:45,&quot;top&quot;:105,&quot;width&quot;:327.79606024548707}"/>
</p:tagLst>
</file>

<file path=ppt/tags/tag15.xml><?xml version="1.0" encoding="utf-8"?>
<p:tagLst xmlns:p="http://schemas.openxmlformats.org/presentationml/2006/main">
  <p:tag name="KSO_WM_DIAGRAM_VIRTUALLY_FRAME" val="{&quot;height&quot;:158.10604770744604,&quot;left&quot;:45,&quot;top&quot;:105,&quot;width&quot;:327.79606024548707}"/>
</p:tagLst>
</file>

<file path=ppt/tags/tag16.xml><?xml version="1.0" encoding="utf-8"?>
<p:tagLst xmlns:p="http://schemas.openxmlformats.org/presentationml/2006/main">
  <p:tag name="KSO_WM_DIAGRAM_VIRTUALLY_FRAME" val="{&quot;height&quot;:158.10604770744604,&quot;left&quot;:45,&quot;top&quot;:105,&quot;width&quot;:327.79606024548707}"/>
</p:tagLst>
</file>

<file path=ppt/tags/tag17.xml><?xml version="1.0" encoding="utf-8"?>
<p:tagLst xmlns:p="http://schemas.openxmlformats.org/presentationml/2006/main">
  <p:tag name="KSO_WM_DIAGRAM_VIRTUALLY_FRAME" val="{&quot;height&quot;:158.10604770744604,&quot;left&quot;:45,&quot;top&quot;:105,&quot;width&quot;:327.79606024548707}"/>
</p:tagLst>
</file>

<file path=ppt/tags/tag18.xml><?xml version="1.0" encoding="utf-8"?>
<p:tagLst xmlns:p="http://schemas.openxmlformats.org/presentationml/2006/main">
  <p:tag name="KSO_WM_DIAGRAM_VIRTUALLY_FRAME" val="{&quot;height&quot;:158.10604770744604,&quot;left&quot;:45,&quot;top&quot;:105,&quot;width&quot;:327.79606024548707}"/>
</p:tagLst>
</file>

<file path=ppt/tags/tag19.xml><?xml version="1.0" encoding="utf-8"?>
<p:tagLst xmlns:p="http://schemas.openxmlformats.org/presentationml/2006/main">
  <p:tag name="KSO_WM_DIAGRAM_VIRTUALLY_FRAME" val="{&quot;height&quot;:153,&quot;left&quot;:45,&quot;top&quot;:105,&quot;width&quot;:326.25}"/>
</p:tagLst>
</file>

<file path=ppt/tags/tag20.xml><?xml version="1.0" encoding="utf-8"?>
<p:tagLst xmlns:p="http://schemas.openxmlformats.org/presentationml/2006/main">
  <p:tag name="KSO_WM_DIAGRAM_VIRTUALLY_FRAME" val="{&quot;height&quot;:153,&quot;left&quot;:45,&quot;top&quot;:105,&quot;width&quot;:326.25}"/>
</p:tagLst>
</file>

<file path=ppt/tags/tag21.xml><?xml version="1.0" encoding="utf-8"?>
<p:tagLst xmlns:p="http://schemas.openxmlformats.org/presentationml/2006/main">
  <p:tag name="KSO_WM_DIAGRAM_VIRTUALLY_FRAME" val="{&quot;height&quot;:153,&quot;left&quot;:45,&quot;top&quot;:105,&quot;width&quot;:326.25}"/>
</p:tagLst>
</file>

<file path=ppt/tags/tag22.xml><?xml version="1.0" encoding="utf-8"?>
<p:tagLst xmlns:p="http://schemas.openxmlformats.org/presentationml/2006/main">
  <p:tag name="KSO_WM_DIAGRAM_VIRTUALLY_FRAME" val="{&quot;height&quot;:153,&quot;left&quot;:45,&quot;top&quot;:105,&quot;width&quot;:326.25}"/>
</p:tagLst>
</file>

<file path=ppt/tags/tag23.xml><?xml version="1.0" encoding="utf-8"?>
<p:tagLst xmlns:p="http://schemas.openxmlformats.org/presentationml/2006/main">
  <p:tag name="KSO_WM_DIAGRAM_VIRTUALLY_FRAME" val="{&quot;height&quot;:153,&quot;left&quot;:45,&quot;top&quot;:105,&quot;width&quot;:326.25}"/>
</p:tagLst>
</file>

<file path=ppt/tags/tag24.xml><?xml version="1.0" encoding="utf-8"?>
<p:tagLst xmlns:p="http://schemas.openxmlformats.org/presentationml/2006/main">
  <p:tag name="KSO_WM_DIAGRAM_VIRTUALLY_FRAME" val="{&quot;height&quot;:153,&quot;left&quot;:45,&quot;top&quot;:105,&quot;width&quot;:326.25}"/>
</p:tagLst>
</file>

<file path=ppt/tags/tag25.xml><?xml version="1.0" encoding="utf-8"?>
<p:tagLst xmlns:p="http://schemas.openxmlformats.org/presentationml/2006/main">
  <p:tag name="KSO_WM_DIAGRAM_VIRTUALLY_FRAME" val="{&quot;height&quot;:153,&quot;left&quot;:45,&quot;top&quot;:105,&quot;width&quot;:326.25}"/>
</p:tagLst>
</file>

<file path=ppt/tags/tag26.xml><?xml version="1.0" encoding="utf-8"?>
<p:tagLst xmlns:p="http://schemas.openxmlformats.org/presentationml/2006/main">
  <p:tag name="KSO_WM_DIAGRAM_VIRTUALLY_FRAME" val="{&quot;height&quot;:153,&quot;left&quot;:45,&quot;top&quot;:105,&quot;width&quot;:326.25}"/>
</p:tagLst>
</file>

<file path=ppt/tags/tag27.xml><?xml version="1.0" encoding="utf-8"?>
<p:tagLst xmlns:p="http://schemas.openxmlformats.org/presentationml/2006/main">
  <p:tag name="KSO_WM_DIAGRAM_VIRTUALLY_FRAME" val="{&quot;height&quot;:374.2,&quot;left&quot;:242,&quot;top&quot;:10.862519685039365,&quot;width&quot;:472.50007874015745}"/>
</p:tagLst>
</file>

<file path=ppt/tags/tag28.xml><?xml version="1.0" encoding="utf-8"?>
<p:tagLst xmlns:p="http://schemas.openxmlformats.org/presentationml/2006/main">
  <p:tag name="KSO_WM_DIAGRAM_VIRTUALLY_FRAME" val="{&quot;height&quot;:374.2,&quot;left&quot;:242,&quot;top&quot;:10.862519685039365,&quot;width&quot;:472.50007874015745}"/>
</p:tagLst>
</file>

<file path=ppt/tags/tag29.xml><?xml version="1.0" encoding="utf-8"?>
<p:tagLst xmlns:p="http://schemas.openxmlformats.org/presentationml/2006/main">
  <p:tag name="KSO_WM_DIAGRAM_VIRTUALLY_FRAME" val="{&quot;height&quot;:374.2,&quot;left&quot;:242,&quot;top&quot;:10.862519685039365,&quot;width&quot;:472.50007874015745}"/>
</p:tagLst>
</file>

<file path=ppt/tags/tag30.xml><?xml version="1.0" encoding="utf-8"?>
<p:tagLst xmlns:p="http://schemas.openxmlformats.org/presentationml/2006/main">
  <p:tag name="KSO_WM_DIAGRAM_VIRTUALLY_FRAME" val="{&quot;height&quot;:374.2,&quot;left&quot;:242,&quot;top&quot;:10.862519685039365,&quot;width&quot;:472.50007874015745}"/>
</p:tagLst>
</file>

<file path=ppt/tags/tag31.xml><?xml version="1.0" encoding="utf-8"?>
<p:tagLst xmlns:p="http://schemas.openxmlformats.org/presentationml/2006/main">
  <p:tag name="KSO_WM_DIAGRAM_VIRTUALLY_FRAME" val="{&quot;height&quot;:374.2,&quot;left&quot;:242,&quot;top&quot;:10.862519685039365,&quot;width&quot;:472.50007874015745}"/>
</p:tagLst>
</file>

<file path=ppt/tags/tag32.xml><?xml version="1.0" encoding="utf-8"?>
<p:tagLst xmlns:p="http://schemas.openxmlformats.org/presentationml/2006/main">
  <p:tag name="KSO_WM_DIAGRAM_VIRTUALLY_FRAME" val="{&quot;height&quot;:374.2,&quot;left&quot;:242,&quot;top&quot;:10.862519685039365,&quot;width&quot;:472.50007874015745}"/>
</p:tagLst>
</file>

<file path=ppt/tags/tag33.xml><?xml version="1.0" encoding="utf-8"?>
<p:tagLst xmlns:p="http://schemas.openxmlformats.org/presentationml/2006/main">
  <p:tag name="KSO_WM_DIAGRAM_VIRTUALLY_FRAME" val="{&quot;height&quot;:374.2,&quot;left&quot;:242,&quot;top&quot;:10.862519685039365,&quot;width&quot;:472.50007874015745}"/>
</p:tagLst>
</file>

<file path=ppt/tags/tag34.xml><?xml version="1.0" encoding="utf-8"?>
<p:tagLst xmlns:p="http://schemas.openxmlformats.org/presentationml/2006/main">
  <p:tag name="KSO_WM_DIAGRAM_VIRTUALLY_FRAME" val="{&quot;height&quot;:374.2,&quot;left&quot;:242,&quot;top&quot;:10.862519685039365,&quot;width&quot;:472.50007874015745}"/>
</p:tagLst>
</file>

<file path=ppt/tags/tag35.xml><?xml version="1.0" encoding="utf-8"?>
<p:tagLst xmlns:p="http://schemas.openxmlformats.org/presentationml/2006/main">
  <p:tag name="KSO_WM_DIAGRAM_VIRTUALLY_FRAME" val="{&quot;height&quot;:374.2,&quot;left&quot;:242,&quot;top&quot;:10.862519685039365,&quot;width&quot;:472.50007874015745}"/>
</p:tagLst>
</file>

<file path=ppt/tags/tag36.xml><?xml version="1.0" encoding="utf-8"?>
<p:tagLst xmlns:p="http://schemas.openxmlformats.org/presentationml/2006/main">
  <p:tag name="KSO_WM_DIAGRAM_VIRTUALLY_FRAME" val="{&quot;height&quot;:374.2,&quot;left&quot;:242,&quot;top&quot;:10.862519685039365,&quot;width&quot;:472.50007874015745}"/>
</p:tagLst>
</file>

<file path=ppt/tags/tag37.xml><?xml version="1.0" encoding="utf-8"?>
<p:tagLst xmlns:p="http://schemas.openxmlformats.org/presentationml/2006/main">
  <p:tag name="KSO_WM_DIAGRAM_VIRTUALLY_FRAME" val="{&quot;height&quot;:374.2,&quot;left&quot;:242,&quot;top&quot;:10.862519685039365,&quot;width&quot;:472.50007874015745}"/>
</p:tagLst>
</file>

<file path=ppt/tags/tag38.xml><?xml version="1.0" encoding="utf-8"?>
<p:tagLst xmlns:p="http://schemas.openxmlformats.org/presentationml/2006/main">
  <p:tag name="KSO_WM_DIAGRAM_VIRTUALLY_FRAME" val="{&quot;height&quot;:374.2,&quot;left&quot;:242,&quot;top&quot;:10.862519685039365,&quot;width&quot;:472.50007874015745}"/>
</p:tagLst>
</file>

<file path=ppt/tags/tag39.xml><?xml version="1.0" encoding="utf-8"?>
<p:tagLst xmlns:p="http://schemas.openxmlformats.org/presentationml/2006/main">
  <p:tag name="KSO_WM_DIAGRAM_VIRTUALLY_FRAME" val="{&quot;height&quot;:374.2,&quot;left&quot;:242,&quot;top&quot;:10.862519685039365,&quot;width&quot;:472.50007874015745}"/>
</p:tagLst>
</file>

<file path=ppt/tags/tag40.xml><?xml version="1.0" encoding="utf-8"?>
<p:tagLst xmlns:p="http://schemas.openxmlformats.org/presentationml/2006/main">
  <p:tag name="KSO_WM_DIAGRAM_VIRTUALLY_FRAME" val="{&quot;height&quot;:374.2,&quot;left&quot;:242,&quot;top&quot;:10.862519685039365,&quot;width&quot;:472.50007874015745}"/>
</p:tagLst>
</file>

<file path=ppt/tags/tag41.xml><?xml version="1.0" encoding="utf-8"?>
<p:tagLst xmlns:p="http://schemas.openxmlformats.org/presentationml/2006/main">
  <p:tag name="KSO_WM_DIAGRAM_VIRTUALLY_FRAME" val="{&quot;height&quot;:374.2,&quot;left&quot;:242,&quot;top&quot;:10.862519685039365,&quot;width&quot;:472.50007874015745}"/>
</p:tagLst>
</file>

<file path=ppt/tags/tag42.xml><?xml version="1.0" encoding="utf-8"?>
<p:tagLst xmlns:p="http://schemas.openxmlformats.org/presentationml/2006/main">
  <p:tag name="KSO_WM_DIAGRAM_VIRTUALLY_FRAME" val="{&quot;height&quot;:374.2,&quot;left&quot;:242,&quot;top&quot;:10.862519685039365,&quot;width&quot;:472.50007874015745}"/>
</p:tagLst>
</file>

<file path=ppt/tags/tag43.xml><?xml version="1.0" encoding="utf-8"?>
<p:tagLst xmlns:p="http://schemas.openxmlformats.org/presentationml/2006/main">
  <p:tag name="KSO_WM_DIAGRAM_VIRTUALLY_FRAME" val="{&quot;height&quot;:374.2,&quot;left&quot;:242,&quot;top&quot;:10.862519685039365,&quot;width&quot;:472.50007874015745}"/>
</p:tagLst>
</file>

<file path=ppt/tags/tag44.xml><?xml version="1.0" encoding="utf-8"?>
<p:tagLst xmlns:p="http://schemas.openxmlformats.org/presentationml/2006/main">
  <p:tag name="KSO_WM_DIAGRAM_VIRTUALLY_FRAME" val="{&quot;height&quot;:374.2,&quot;left&quot;:242,&quot;top&quot;:10.862519685039365,&quot;width&quot;:472.50007874015745}"/>
</p:tagLst>
</file>

<file path=ppt/tags/tag45.xml><?xml version="1.0" encoding="utf-8"?>
<p:tagLst xmlns:p="http://schemas.openxmlformats.org/presentationml/2006/main">
  <p:tag name="KSO_WM_DIAGRAM_VIRTUALLY_FRAME" val="{&quot;height&quot;:374.2,&quot;left&quot;:242,&quot;top&quot;:10.862519685039365,&quot;width&quot;:472.50007874015745}"/>
</p:tagLst>
</file>

<file path=ppt/tags/tag46.xml><?xml version="1.0" encoding="utf-8"?>
<p:tagLst xmlns:p="http://schemas.openxmlformats.org/presentationml/2006/main">
  <p:tag name="KSO_WM_DIAGRAM_VIRTUALLY_FRAME" val="{&quot;height&quot;:374.2,&quot;left&quot;:242,&quot;top&quot;:10.862519685039365,&quot;width&quot;:472.50007874015745}"/>
</p:tagLst>
</file>

<file path=ppt/tags/tag47.xml><?xml version="1.0" encoding="utf-8"?>
<p:tagLst xmlns:p="http://schemas.openxmlformats.org/presentationml/2006/main">
  <p:tag name="commondata" val="eyJoZGlkIjoiOGY2MDA3Yzg0NzFkODdhZTcwODU5Y2E4Yzg2MzIyMDE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2095</Words>
  <Application>WPS 演示</Application>
  <PresentationFormat>On-screen Show (16:9)</PresentationFormat>
  <Paragraphs>184</Paragraphs>
  <Slides>20</Slides>
  <Notes>22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20</vt:i4>
      </vt:variant>
    </vt:vector>
  </HeadingPairs>
  <TitlesOfParts>
    <vt:vector size="30" baseType="lpstr">
      <vt:lpstr>Arial</vt:lpstr>
      <vt:lpstr>宋体</vt:lpstr>
      <vt:lpstr>Wingdings</vt:lpstr>
      <vt:lpstr>微软雅黑</vt:lpstr>
      <vt:lpstr>微软雅黑</vt:lpstr>
      <vt:lpstr>Calibri</vt:lpstr>
      <vt:lpstr>等线</vt:lpstr>
      <vt:lpstr>Arial Unicode MS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王顺平</cp:lastModifiedBy>
  <cp:revision>7</cp:revision>
  <dcterms:created xsi:type="dcterms:W3CDTF">2025-04-10T08:48:00Z</dcterms:created>
  <dcterms:modified xsi:type="dcterms:W3CDTF">2025-04-13T08:01:53Z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97ABBC5E3F4444F79E3C6E93744D77B0_12</vt:lpwstr>
  </property>
  <property fmtid="{D5CDD505-2E9C-101B-9397-08002B2CF9AE}" pid="3" name="KSOProductBuildVer">
    <vt:lpwstr>2052-12.1.0.17147</vt:lpwstr>
  </property>
</Properties>
</file>